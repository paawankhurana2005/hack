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0C409-EDD4-4867-8B9A-7185CD952530}" v="1610" dt="2026-07-05T10:17:20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215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400" b="1" dirty="0">
                <a:solidFill>
                  <a:srgbClr val="FF9900"/>
                </a:solidFill>
                <a:latin typeface="Arial"/>
                <a:cs typeface="Arial"/>
              </a:rPr>
              <a:t>Second Life </a:t>
            </a:r>
            <a:r>
              <a:rPr lang="en-US" sz="1400" b="1">
                <a:solidFill>
                  <a:srgbClr val="FF9900"/>
                </a:solidFill>
                <a:latin typeface="Arial"/>
                <a:cs typeface="Arial"/>
              </a:rPr>
              <a:t>Commerce: AI Powered Returns</a:t>
            </a:r>
            <a:endParaRPr lang="en-US" sz="1400" b="1" dirty="0">
              <a:solidFill>
                <a:srgbClr val="FF99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1" i="0">
                <a:solidFill>
                  <a:srgbClr val="FFFFFF"/>
                </a:solidFill>
                <a:latin typeface="Arial"/>
              </a:rPr>
              <a:t>ReLoop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8274"/>
            <a:ext cx="10698480" cy="97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999"/>
              </a:lnSpc>
              <a:spcAft>
                <a:spcPts val="400"/>
              </a:spcAft>
            </a:pPr>
            <a:r>
              <a:rPr lang="en-US" sz="2700">
                <a:solidFill>
                  <a:srgbClr val="D5DBDB"/>
                </a:solidFill>
                <a:latin typeface="Arial"/>
                <a:ea typeface="+mn-lt"/>
                <a:cs typeface="Arial"/>
              </a:rPr>
              <a:t>The intelligence layer for Amazon's return pipeline.</a:t>
            </a:r>
            <a:endParaRPr lang="en-US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15999"/>
              </a:lnSpc>
              <a:spcAft>
                <a:spcPts val="400"/>
              </a:spcAft>
            </a:pPr>
            <a:r>
              <a:rPr lang="en-US" sz="2700" dirty="0">
                <a:solidFill>
                  <a:srgbClr val="D5DBDB"/>
                </a:solidFill>
                <a:latin typeface="Arial"/>
                <a:ea typeface="+mn-lt"/>
                <a:cs typeface="Arial"/>
              </a:rPr>
              <a:t> Grade at the doorstep, decide the item's next life </a:t>
            </a:r>
            <a:r>
              <a:rPr lang="en-US" sz="2700" b="1" dirty="0">
                <a:solidFill>
                  <a:srgbClr val="FF9900"/>
                </a:solidFill>
                <a:latin typeface="Arial"/>
                <a:ea typeface="+mn-lt"/>
                <a:cs typeface="Arial"/>
              </a:rPr>
              <a:t>before it </a:t>
            </a:r>
            <a:r>
              <a:rPr lang="en-US" sz="2700" b="1">
                <a:solidFill>
                  <a:srgbClr val="FF9900"/>
                </a:solidFill>
                <a:latin typeface="Arial"/>
                <a:ea typeface="+mn-lt"/>
                <a:cs typeface="Arial"/>
              </a:rPr>
              <a:t>moves.</a:t>
            </a:r>
            <a:endParaRPr lang="en-US" sz="2700" dirty="0">
              <a:solidFill>
                <a:srgbClr val="D5DBDB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058400" cy="255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 b="0" i="1">
                <a:solidFill>
                  <a:srgbClr val="9BA7B0"/>
                </a:solidFill>
                <a:latin typeface="Arial"/>
              </a:rPr>
              <a:t>The smart layer that sits on top of Amazon's returns</a:t>
            </a:r>
            <a:r>
              <a:rPr lang="en-US" sz="1700" i="1">
                <a:solidFill>
                  <a:srgbClr val="9BA7B0"/>
                </a:solidFill>
                <a:latin typeface="Arial"/>
              </a:rPr>
              <a:t>, </a:t>
            </a:r>
            <a:r>
              <a:rPr sz="1700" b="0" i="1">
                <a:solidFill>
                  <a:srgbClr val="9BA7B0"/>
                </a:solidFill>
                <a:latin typeface="Arial"/>
              </a:rPr>
              <a:t>so far less gets wasted.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START WITH SOMETHING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What actually happens after you click “Return”?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D5DBDB"/>
                </a:solidFill>
                <a:latin typeface="Arial"/>
              </a:rPr>
              <a:t>You hand the package back and forget about it. Behind the scenes, it goes on a surprisingly long trip: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61872" y="2487168"/>
            <a:ext cx="420624" cy="420624"/>
          </a:xfrm>
          <a:prstGeom prst="ellipse">
            <a:avLst/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Picked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310128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D5DBDB"/>
                </a:solidFill>
                <a:latin typeface="Arial"/>
              </a:rPr>
              <a:t>a driver collects it from your door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880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90672" y="2487168"/>
            <a:ext cx="420624" cy="420624"/>
          </a:xfrm>
          <a:prstGeom prst="ellipse">
            <a:avLst/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Local depot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310128"/>
            <a:ext cx="1463040" cy="296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D5DBDB"/>
                </a:solidFill>
                <a:latin typeface="Arial"/>
              </a:rPr>
              <a:t>it stops at a nearby station</a:t>
            </a:r>
            <a:r>
              <a:rPr lang="en-US" sz="950" dirty="0">
                <a:solidFill>
                  <a:srgbClr val="D5DBDB"/>
                </a:solidFill>
                <a:latin typeface="Arial"/>
              </a:rPr>
              <a:t> </a:t>
            </a:r>
            <a:r>
              <a:rPr sz="950" b="0" i="0" dirty="0">
                <a:solidFill>
                  <a:srgbClr val="D5DBDB"/>
                </a:solidFill>
                <a:latin typeface="Arial"/>
              </a:rPr>
              <a:t>just passing 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880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19472" y="2487168"/>
            <a:ext cx="420624" cy="420624"/>
          </a:xfrm>
          <a:prstGeom prst="ellipse">
            <a:avLst/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Sorting center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310128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D5DBDB"/>
                </a:solidFill>
                <a:latin typeface="Arial"/>
              </a:rPr>
              <a:t>trucked to a bigger hub to be batched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880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48272" y="2487168"/>
            <a:ext cx="420624" cy="420624"/>
          </a:xfrm>
          <a:prstGeom prst="ellipse">
            <a:avLst/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Returns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310128"/>
            <a:ext cx="1463040" cy="296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D5DBDB"/>
                </a:solidFill>
                <a:latin typeface="Arial"/>
              </a:rPr>
              <a:t>hauled hundreds of km </a:t>
            </a:r>
            <a:r>
              <a:rPr sz="950" b="0" i="0">
                <a:solidFill>
                  <a:srgbClr val="D5DBDB"/>
                </a:solidFill>
                <a:latin typeface="Arial"/>
              </a:rPr>
              <a:t>away often 500km+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2880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77071" y="2487168"/>
            <a:ext cx="420624" cy="420624"/>
          </a:xfrm>
          <a:prstGeom prst="ellipse">
            <a:avLst/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Waits in 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7" y="3310128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D5DBDB"/>
                </a:solidFill>
                <a:latin typeface="Arial"/>
              </a:rPr>
              <a:t>sits for days or weeks before anyone looks at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7" y="2880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05872" y="2487168"/>
            <a:ext cx="420624" cy="42062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31A22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Finally graded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310128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D5DBDB"/>
                </a:solidFill>
                <a:latin typeface="Arial"/>
              </a:rPr>
              <a:t>only NOW does a person decide what it's worth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6515" y="4557486"/>
            <a:ext cx="10593976" cy="634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800" b="1" i="0" dirty="0">
                <a:solidFill>
                  <a:srgbClr val="FF9900"/>
                </a:solidFill>
                <a:latin typeface="Arial"/>
              </a:rPr>
              <a:t>The catch:  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the single most important decision</a:t>
            </a:r>
            <a:r>
              <a:rPr lang="en-US" b="1" dirty="0">
                <a:solidFill>
                  <a:srgbClr val="FFFFFF"/>
                </a:solidFill>
                <a:latin typeface="Arial"/>
              </a:rPr>
              <a:t> is that </a:t>
            </a:r>
            <a:r>
              <a:rPr sz="1800" b="0" i="0" dirty="0">
                <a:solidFill>
                  <a:srgbClr val="D5DBDB"/>
                </a:solidFill>
                <a:latin typeface="Arial"/>
              </a:rPr>
              <a:t>“what should we do with this item</a:t>
            </a:r>
            <a:r>
              <a:rPr lang="en-US" dirty="0">
                <a:solidFill>
                  <a:srgbClr val="D5DBDB"/>
                </a:solidFill>
                <a:latin typeface="Arial"/>
              </a:rPr>
              <a:t>?" </a:t>
            </a:r>
            <a:r>
              <a:rPr sz="1800" b="0" i="0" dirty="0">
                <a:solidFill>
                  <a:srgbClr val="D5DBDB"/>
                </a:solidFill>
                <a:latin typeface="Arial"/>
              </a:rPr>
              <a:t>happens </a:t>
            </a:r>
            <a:r>
              <a:rPr sz="1800" b="1" i="0" dirty="0">
                <a:solidFill>
                  <a:srgbClr val="FF9900"/>
                </a:solidFill>
                <a:latin typeface="Arial"/>
              </a:rPr>
              <a:t>dead last</a:t>
            </a:r>
            <a:r>
              <a:rPr sz="1800" b="0" i="0" dirty="0">
                <a:solidFill>
                  <a:srgbClr val="D5DBDB"/>
                </a:solidFill>
                <a:latin typeface="Arial"/>
              </a:rPr>
              <a:t>, after all the driving is already paid for and weeks </a:t>
            </a:r>
            <a:r>
              <a:rPr lang="en-US" dirty="0" err="1">
                <a:solidFill>
                  <a:srgbClr val="D5DBDB"/>
                </a:solidFill>
                <a:latin typeface="Arial"/>
              </a:rPr>
              <a:t>f</a:t>
            </a:r>
            <a:r>
              <a:rPr sz="1800" b="0" i="0" dirty="0">
                <a:solidFill>
                  <a:srgbClr val="D5DBDB"/>
                </a:solidFill>
                <a:latin typeface="Arial"/>
              </a:rPr>
              <a:t> value have quietly leaked away.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That long trip is expensive</a:t>
            </a:r>
            <a:r>
              <a:rPr lang="en-US" sz="3000" b="1" dirty="0">
                <a:solidFill>
                  <a:srgbClr val="FFFFFF"/>
                </a:solidFill>
                <a:latin typeface="Arial"/>
              </a:rPr>
              <a:t> </a:t>
            </a:r>
            <a:r>
              <a:rPr sz="3000" b="1" i="0">
                <a:solidFill>
                  <a:srgbClr val="FFFFFF"/>
                </a:solidFill>
                <a:latin typeface="Arial"/>
              </a:rPr>
              <a:t>and most items lose</a:t>
            </a:r>
            <a:r>
              <a:rPr lang="en-US" sz="3000" b="1">
                <a:solidFill>
                  <a:srgbClr val="FFFFFF"/>
                </a:solidFill>
                <a:latin typeface="Arial"/>
              </a:rPr>
              <a:t> value</a:t>
            </a:r>
            <a:endParaRPr sz="30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D5DBDB"/>
                </a:solidFill>
                <a:latin typeface="Arial"/>
              </a:rPr>
              <a:t>Returns are enormous, and today's process wrings very little value back out of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91440" cy="1325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9900"/>
                </a:solidFill>
                <a:latin typeface="Arial"/>
              </a:rPr>
              <a:t>1.2–1.5 billion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3580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packages returned every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28600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2286000"/>
            <a:ext cx="91440" cy="1325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3200">
                <a:solidFill>
                  <a:srgbClr val="FF9900"/>
                </a:solidFill>
                <a:ea typeface="+mn-lt"/>
                <a:cs typeface="+mn-lt"/>
              </a:rPr>
              <a:t>₹</a:t>
            </a:r>
            <a:r>
              <a:rPr lang="en-US" sz="2700" b="1">
                <a:solidFill>
                  <a:srgbClr val="FF9900"/>
                </a:solidFill>
                <a:latin typeface="Arial"/>
                <a:ea typeface="+mn-lt"/>
                <a:cs typeface="Arial"/>
              </a:rPr>
              <a:t>30,000-50,000 Crore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303580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what returns cost the industry, yearly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91440" cy="1325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776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9900"/>
                </a:solidFill>
                <a:latin typeface="Arial"/>
              </a:rPr>
              <a:t>only 10–20%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4456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of returns ever make it back onto a shelf to be resold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794760"/>
            <a:ext cx="91440" cy="1325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9776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9900"/>
                </a:solidFill>
                <a:latin typeface="Arial"/>
              </a:rPr>
              <a:t>the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44568"/>
            <a:ext cx="4846320" cy="210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mostly sold off cheap to liquidators</a:t>
            </a:r>
            <a:r>
              <a:rPr lang="en-US" sz="1350" dirty="0">
                <a:solidFill>
                  <a:srgbClr val="D5DBDB"/>
                </a:solidFill>
                <a:latin typeface="Arial"/>
              </a:rPr>
              <a:t> </a:t>
            </a:r>
            <a:r>
              <a:rPr sz="1350" b="0" i="0">
                <a:solidFill>
                  <a:srgbClr val="D5DBDB"/>
                </a:solidFill>
                <a:latin typeface="Arial"/>
              </a:rPr>
              <a:t>or </a:t>
            </a:r>
            <a:r>
              <a:rPr lang="en-US" sz="1350">
                <a:solidFill>
                  <a:srgbClr val="D5DBDB"/>
                </a:solidFill>
                <a:latin typeface="Arial"/>
              </a:rPr>
              <a:t>are </a:t>
            </a:r>
            <a:r>
              <a:rPr sz="1350" b="0" i="0">
                <a:solidFill>
                  <a:srgbClr val="D5DBDB"/>
                </a:solidFill>
                <a:latin typeface="Arial"/>
              </a:rPr>
              <a:t>thrown 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9900"/>
                </a:solidFill>
                <a:latin typeface="Arial"/>
              </a:rPr>
              <a:t>Every wasted item is money burned twice: </a:t>
            </a:r>
            <a:r>
              <a:rPr sz="1450" b="0" i="0">
                <a:solidFill>
                  <a:srgbClr val="D5DBDB"/>
                </a:solidFill>
                <a:latin typeface="Arial"/>
              </a:rPr>
              <a:t>once on the trucking, and again on the value that could have been recovered if we'd acted sooner.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So… what if we decided at your front door instead?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D5DBDB"/>
                </a:solidFill>
                <a:latin typeface="Arial"/>
              </a:rPr>
              <a:t>The whole problem is that we decide </a:t>
            </a:r>
            <a:r>
              <a:rPr sz="1900" b="1" i="0">
                <a:solidFill>
                  <a:srgbClr val="FF9900"/>
                </a:solidFill>
                <a:latin typeface="Arial"/>
              </a:rPr>
              <a:t>after</a:t>
            </a:r>
            <a:r>
              <a:rPr sz="1900" b="0" i="0">
                <a:solidFill>
                  <a:srgbClr val="D5DBDB"/>
                </a:solidFill>
                <a:latin typeface="Arial"/>
              </a:rPr>
              <a:t> the item has travelled. ReLoop flips it: look at the item the moment it's returned, and pick its best next step </a:t>
            </a:r>
            <a:r>
              <a:rPr sz="1900" b="1" i="0">
                <a:solidFill>
                  <a:srgbClr val="FF9900"/>
                </a:solidFill>
                <a:latin typeface="Arial"/>
              </a:rPr>
              <a:t>before it moves an inch.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BA7B0"/>
                </a:solidFill>
                <a:latin typeface="Arial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4846320" cy="1330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F26D6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Ship it far away first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F26D6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Let it sit and lose value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F26D6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Then decide what </a:t>
            </a:r>
            <a:r>
              <a:rPr lang="en-US" sz="1400">
                <a:solidFill>
                  <a:srgbClr val="D5DBDB"/>
                </a:solidFill>
                <a:latin typeface="Arial"/>
              </a:rPr>
              <a:t>is it's</a:t>
            </a:r>
            <a:r>
              <a:rPr sz="1400" b="0" i="0">
                <a:solidFill>
                  <a:srgbClr val="D5DBDB"/>
                </a:solidFill>
                <a:latin typeface="Arial"/>
              </a:rPr>
              <a:t> worth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F26D6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Usually too late to do anything clever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200400"/>
            <a:ext cx="5257800" cy="26517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3200400"/>
            <a:ext cx="5257800" cy="10972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WITH RELOOP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886200"/>
            <a:ext cx="4846320" cy="1571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 dirty="0">
                <a:solidFill>
                  <a:srgbClr val="2EC48D"/>
                </a:solidFill>
                <a:latin typeface="Arial"/>
              </a:rPr>
              <a:t>•</a:t>
            </a:r>
            <a:r>
              <a:rPr lang="en-US" sz="1400" b="1" dirty="0">
                <a:solidFill>
                  <a:srgbClr val="2EC48D"/>
                </a:solidFill>
                <a:latin typeface="Arial"/>
              </a:rPr>
              <a:t> </a:t>
            </a:r>
            <a:r>
              <a:rPr lang="en-US" sz="1400">
                <a:solidFill>
                  <a:srgbClr val="D5DBDB"/>
                </a:solidFill>
                <a:latin typeface="Arial"/>
              </a:rPr>
              <a:t>AI decides the grad</a:t>
            </a:r>
            <a:r>
              <a:rPr lang="en-US" sz="1400" dirty="0">
                <a:solidFill>
                  <a:srgbClr val="D5DBDB"/>
                </a:solidFill>
                <a:latin typeface="Arial"/>
              </a:rPr>
              <a:t>e </a:t>
            </a:r>
            <a:r>
              <a:rPr sz="1400" b="0" i="0" dirty="0">
                <a:solidFill>
                  <a:srgbClr val="D5DBDB"/>
                </a:solidFill>
                <a:latin typeface="Arial"/>
              </a:rPr>
              <a:t>at the doorstep, instantly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 dirty="0">
                <a:solidFill>
                  <a:srgbClr val="2EC48D"/>
                </a:solidFill>
                <a:latin typeface="Arial"/>
              </a:rPr>
              <a:t>•  </a:t>
            </a:r>
            <a:r>
              <a:rPr lang="en-US" sz="1400">
                <a:solidFill>
                  <a:srgbClr val="D5DBDB"/>
                </a:solidFill>
                <a:latin typeface="Arial"/>
              </a:rPr>
              <a:t>Valuable items are kept local and rerouted to nearby buyers</a:t>
            </a:r>
            <a:endParaRPr sz="1400" b="0" i="0">
              <a:solidFill>
                <a:srgbClr val="D5DBDB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2EC48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Skip the pointless long-distance trip</a:t>
            </a:r>
            <a:r>
              <a:rPr lang="en-US" sz="1400">
                <a:solidFill>
                  <a:srgbClr val="D5DBDB"/>
                </a:solidFill>
                <a:latin typeface="Arial"/>
              </a:rPr>
              <a:t> to the warehouse</a:t>
            </a:r>
            <a:endParaRPr sz="1400" b="0" i="0">
              <a:solidFill>
                <a:srgbClr val="D5DBDB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2EC48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Only the items that truly need it travel</a:t>
            </a:r>
            <a:r>
              <a:rPr lang="en-US" sz="1400">
                <a:solidFill>
                  <a:srgbClr val="D5DBDB"/>
                </a:solidFill>
                <a:latin typeface="Arial"/>
              </a:rPr>
              <a:t>, so it is purely additive </a:t>
            </a:r>
            <a:endParaRPr sz="1400" b="0" i="0">
              <a:solidFill>
                <a:srgbClr val="D5DBDB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WHOLE THING IN THREE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Snap a photo → the AI decides → the item finds its best home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4023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1A22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Look at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3017520" cy="676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dirty="0">
                <a:solidFill>
                  <a:srgbClr val="D5DBDB"/>
                </a:solidFill>
                <a:latin typeface="Arial"/>
              </a:rPr>
              <a:t>You take a few photos at the door. An AI reads the item's condition like a really fast, really consistent inspector.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4023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1A22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Think it 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017520" cy="1012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i="0" dirty="0">
                <a:solidFill>
                  <a:srgbClr val="D5DBDB"/>
                </a:solidFill>
                <a:ea typeface="+mn-lt"/>
                <a:cs typeface="+mn-lt"/>
              </a:rPr>
              <a:t>A decision engine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intercepts the return </a:t>
            </a:r>
            <a:r>
              <a:rPr lang="en-US" sz="1300">
                <a:solidFill>
                  <a:srgbClr val="D5DBDB"/>
                </a:solidFill>
                <a:ea typeface="+mn-lt"/>
                <a:cs typeface="+mn-lt"/>
              </a:rPr>
              <a:t>before it moves </a:t>
            </a:r>
            <a:r>
              <a:rPr lang="en-US" sz="1300" i="0">
                <a:solidFill>
                  <a:srgbClr val="D5DBDB"/>
                </a:solidFill>
                <a:ea typeface="+mn-lt"/>
                <a:cs typeface="+mn-lt"/>
              </a:rPr>
              <a:t>and </a:t>
            </a:r>
            <a:r>
              <a:rPr lang="en-US" sz="1300">
                <a:solidFill>
                  <a:srgbClr val="D5DBDB"/>
                </a:solidFill>
                <a:ea typeface="+mn-lt"/>
                <a:cs typeface="+mn-lt"/>
              </a:rPr>
              <a:t>reroutes it to </a:t>
            </a:r>
            <a:r>
              <a:rPr lang="en-US" sz="1300" i="0">
                <a:solidFill>
                  <a:srgbClr val="D5DBDB"/>
                </a:solidFill>
                <a:ea typeface="+mn-lt"/>
                <a:cs typeface="+mn-lt"/>
              </a:rPr>
              <a:t>the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highest-value local path, instead of defaulting to a warehouse 200km away</a:t>
            </a:r>
            <a:r>
              <a:rPr lang="en-US" sz="130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400"/>
              </a:spcAft>
            </a:pPr>
            <a:endParaRPr sz="1300" b="0" i="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74720" cy="4023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1A22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97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Send it the right 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154680"/>
            <a:ext cx="3017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5DBDB"/>
                </a:solidFill>
                <a:latin typeface="Arial"/>
              </a:rPr>
              <a:t>The item goes straight to its best next home. Two quick human checks along the way make sure the AI got it right.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1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STEP 1</a:t>
            </a:r>
            <a:r>
              <a:rPr lang="en-US" sz="1250" b="1">
                <a:solidFill>
                  <a:srgbClr val="FF9900"/>
                </a:solidFill>
                <a:latin typeface="Arial"/>
              </a:rPr>
              <a:t>: </a:t>
            </a:r>
            <a:r>
              <a:rPr sz="1250" b="1" i="0">
                <a:solidFill>
                  <a:srgbClr val="FF9900"/>
                </a:solidFill>
                <a:latin typeface="Arial"/>
              </a:rPr>
              <a:t>THE EYES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An AI reads the item's condition from photos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22846"/>
            <a:ext cx="5621382" cy="2293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450" b="1" i="0" dirty="0">
                <a:solidFill>
                  <a:srgbClr val="FFFFFF"/>
                </a:solidFill>
                <a:latin typeface="Arial"/>
              </a:rPr>
              <a:t>Trained to judge condition. 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It looks at the photos and figures out how good a shape the item is </a:t>
            </a:r>
            <a:r>
              <a:rPr sz="1450" b="0" i="0" dirty="0" err="1">
                <a:solidFill>
                  <a:srgbClr val="D5DBDB"/>
                </a:solidFill>
                <a:latin typeface="Arial"/>
              </a:rPr>
              <a:t>in</a:t>
            </a:r>
            <a:r>
              <a:rPr lang="en-US" sz="1450" dirty="0" err="1">
                <a:solidFill>
                  <a:srgbClr val="D5DBDB"/>
                </a:solidFill>
                <a:latin typeface="Arial"/>
              </a:rPr>
              <a:t>: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 brand-new, lightly used, worn, or beyond saving.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450" b="1" i="0" dirty="0">
                <a:solidFill>
                  <a:srgbClr val="FFFFFF"/>
                </a:solidFill>
                <a:latin typeface="Arial"/>
              </a:rPr>
              <a:t>It spots the details.</a:t>
            </a:r>
            <a:r>
              <a:rPr lang="en-US" sz="1450" b="1" dirty="0">
                <a:solidFill>
                  <a:srgbClr val="FFFFFF"/>
                </a:solidFill>
                <a:latin typeface="Arial"/>
              </a:rPr>
              <a:t> 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Scratched screen? Torn box? It </a:t>
            </a:r>
            <a:r>
              <a:rPr sz="1450" b="0" i="0" dirty="0" err="1">
                <a:solidFill>
                  <a:srgbClr val="D5DBDB"/>
                </a:solidFill>
                <a:latin typeface="Arial"/>
              </a:rPr>
              <a:t>notices, and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 lists them</a:t>
            </a:r>
            <a:r>
              <a:rPr lang="en-US" sz="1450" dirty="0">
                <a:solidFill>
                  <a:srgbClr val="D5DBDB"/>
                </a:solidFill>
                <a:latin typeface="Arial"/>
              </a:rPr>
              <a:t> into the product card.</a:t>
            </a:r>
            <a:endParaRPr sz="1450" b="0" i="0" dirty="0">
              <a:solidFill>
                <a:srgbClr val="D5DBDB"/>
              </a:solidFill>
              <a:latin typeface="Arial"/>
              <a:cs typeface="Arial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450" b="1" i="0" dirty="0">
                <a:solidFill>
                  <a:srgbClr val="FFFFFF"/>
                </a:solidFill>
                <a:latin typeface="Arial"/>
              </a:rPr>
              <a:t>And here's the important part</a:t>
            </a:r>
            <a:r>
              <a:rPr lang="en-US" sz="1450" b="1" dirty="0">
                <a:solidFill>
                  <a:srgbClr val="FFFFFF"/>
                </a:solidFill>
                <a:latin typeface="Arial"/>
              </a:rPr>
              <a:t>: I</a:t>
            </a:r>
            <a:r>
              <a:rPr lang="en-US" sz="1450" dirty="0">
                <a:solidFill>
                  <a:srgbClr val="D5DBDB"/>
                </a:solidFill>
                <a:latin typeface="Arial"/>
              </a:rPr>
              <a:t>t's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 honest about how sure it is. </a:t>
            </a:r>
            <a:r>
              <a:rPr lang="en-US" sz="1450" b="0" i="0" dirty="0">
                <a:solidFill>
                  <a:srgbClr val="D5DBDB"/>
                </a:solidFill>
                <a:ea typeface="+mn-lt"/>
                <a:cs typeface="+mn-lt"/>
              </a:rPr>
              <a:t>Instead of </a:t>
            </a:r>
            <a:r>
              <a:rPr lang="en-US" sz="1450" dirty="0">
                <a:solidFill>
                  <a:srgbClr val="D5DBDB"/>
                </a:solidFill>
                <a:ea typeface="+mn-lt"/>
                <a:cs typeface="+mn-lt"/>
              </a:rPr>
              <a:t>forcing a single answer</a:t>
            </a:r>
            <a:r>
              <a:rPr lang="en-US" sz="1450" b="0" i="0" dirty="0">
                <a:solidFill>
                  <a:srgbClr val="D5DBDB"/>
                </a:solidFill>
                <a:ea typeface="+mn-lt"/>
                <a:cs typeface="+mn-lt"/>
              </a:rPr>
              <a:t>, it </a:t>
            </a:r>
            <a:r>
              <a:rPr lang="en-US" sz="1450" dirty="0">
                <a:solidFill>
                  <a:srgbClr val="D5DBDB"/>
                </a:solidFill>
                <a:ea typeface="+mn-lt"/>
                <a:cs typeface="+mn-lt"/>
              </a:rPr>
              <a:t>outputs a confidence </a:t>
            </a:r>
            <a:r>
              <a:rPr lang="en-US" sz="1450" dirty="0" err="1">
                <a:solidFill>
                  <a:srgbClr val="D5DBDB"/>
                </a:solidFill>
                <a:ea typeface="+mn-lt"/>
                <a:cs typeface="+mn-lt"/>
              </a:rPr>
              <a:t>score</a:t>
            </a:r>
            <a:r>
              <a:rPr lang="en-US" sz="1450" dirty="0">
                <a:solidFill>
                  <a:srgbClr val="D5DBDB"/>
                </a:solidFill>
                <a:ea typeface="+mn-lt"/>
                <a:cs typeface="+mn-lt"/>
              </a:rPr>
              <a:t> so the system knows when to trust the grade and when to flag it for a closer look.</a:t>
            </a:r>
            <a:endParaRPr lang="en-US" sz="1450" b="0" i="0" dirty="0">
              <a:solidFill>
                <a:srgbClr val="D5DBDB"/>
              </a:solidFill>
              <a:ea typeface="+mn-lt"/>
              <a:cs typeface="+mn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46520" y="1737360"/>
            <a:ext cx="5074920" cy="4023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19659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9900"/>
                </a:solidFill>
                <a:latin typeface="Arial"/>
              </a:rPr>
              <a:t>Why “how sure”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468880"/>
            <a:ext cx="4572000" cy="974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A confident wrong guess is dangerous</a:t>
            </a:r>
            <a:r>
              <a:rPr lang="en-US" sz="1350">
                <a:solidFill>
                  <a:srgbClr val="D5DBDB"/>
                </a:solidFill>
                <a:latin typeface="Arial"/>
              </a:rPr>
              <a:t>,</a:t>
            </a:r>
            <a:r>
              <a:rPr sz="1350" b="0" i="0">
                <a:solidFill>
                  <a:srgbClr val="D5DBDB"/>
                </a:solidFill>
                <a:latin typeface="Arial"/>
              </a:rPr>
              <a:t> imagine selling a </a:t>
            </a:r>
            <a:r>
              <a:rPr sz="1350" b="0" i="0" dirty="0">
                <a:solidFill>
                  <a:srgbClr val="D5DBDB"/>
                </a:solidFill>
                <a:latin typeface="Arial"/>
              </a:rPr>
              <a:t>scratched phone to someone as “like new.” </a:t>
            </a:r>
            <a:r>
              <a:rPr sz="1350" b="1" i="0" dirty="0">
                <a:solidFill>
                  <a:srgbClr val="FFFFFF"/>
                </a:solidFill>
                <a:latin typeface="Arial"/>
              </a:rPr>
              <a:t>By keeping track of its own doubt, the engine can play it safe when the photos aren't clear.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3977639"/>
            <a:ext cx="4526280" cy="160020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41605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BA7B0"/>
                </a:solidFill>
                <a:latin typeface="Consolas"/>
              </a:rPr>
              <a:t>what the AI hands over: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52628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CFE8D6"/>
                </a:solidFill>
                <a:latin typeface="Consolas"/>
              </a:rPr>
              <a:t>“70% like-new, 20% lightly used,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CFE8D6"/>
                </a:solidFill>
                <a:latin typeface="Consolas"/>
              </a:rPr>
              <a:t> 10% worn — fairly confident.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DC8E8"/>
                </a:solidFill>
                <a:latin typeface="Consolas"/>
              </a:rPr>
              <a:t> Note: box looks a bit scuffed.”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STEP 2 — THE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ea typeface="+mn-lt"/>
                <a:cs typeface="+mn-lt"/>
              </a:rPr>
              <a:t>What's the best thing to do with this item, right now?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3000" b="1" dirty="0">
              <a:solidFill>
                <a:srgbClr val="FFFFFF"/>
              </a:solidFill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sz="3000" b="1" i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545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lang="en-US" sz="1550" b="0" i="0" dirty="0">
                <a:solidFill>
                  <a:srgbClr val="D5DBDB"/>
                </a:solidFill>
                <a:ea typeface="+mn-lt"/>
                <a:cs typeface="+mn-lt"/>
              </a:rPr>
              <a:t>For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every </a:t>
            </a:r>
            <a:r>
              <a:rPr lang="en-US" sz="1550" b="0" i="0" dirty="0">
                <a:solidFill>
                  <a:srgbClr val="D5DBDB"/>
                </a:solidFill>
                <a:ea typeface="+mn-lt"/>
                <a:cs typeface="+mn-lt"/>
              </a:rPr>
              <a:t>item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, it weighs up the full picture and not just what it's worth, but what it costs to get</a:t>
            </a:r>
            <a:r>
              <a:rPr lang="en-US" sz="1550" b="0" i="0" dirty="0">
                <a:solidFill>
                  <a:srgbClr val="D5DBDB"/>
                </a:solidFill>
                <a:ea typeface="+mn-lt"/>
                <a:cs typeface="+mn-lt"/>
              </a:rPr>
              <a:t> it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there, who </a:t>
            </a:r>
            <a:r>
              <a:rPr lang="en-US" sz="1550" i="0" dirty="0">
                <a:solidFill>
                  <a:srgbClr val="D5DBDB"/>
                </a:solidFill>
                <a:ea typeface="+mn-lt"/>
                <a:cs typeface="+mn-lt"/>
              </a:rPr>
              <a:t>actually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wants it nearby</a:t>
            </a:r>
            <a:r>
              <a:rPr lang="en-US" sz="1550" i="0" dirty="0">
                <a:solidFill>
                  <a:srgbClr val="D5DBDB"/>
                </a:solidFill>
                <a:ea typeface="+mn-lt"/>
                <a:cs typeface="+mn-lt"/>
              </a:rPr>
              <a:t>,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and how fast </a:t>
            </a:r>
            <a:r>
              <a:rPr lang="en-US" sz="1550" i="0" dirty="0">
                <a:solidFill>
                  <a:srgbClr val="D5DBDB"/>
                </a:solidFill>
                <a:ea typeface="+mn-lt"/>
                <a:cs typeface="+mn-lt"/>
              </a:rPr>
              <a:t>the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clock is ticking and </a:t>
            </a:r>
            <a:r>
              <a:rPr lang="en-US" sz="1550" b="0" i="0" dirty="0">
                <a:solidFill>
                  <a:srgbClr val="D5DBDB"/>
                </a:solidFill>
                <a:ea typeface="+mn-lt"/>
                <a:cs typeface="+mn-lt"/>
              </a:rPr>
              <a:t>then picks the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best path</a:t>
            </a:r>
            <a:r>
              <a:rPr lang="en-US" sz="1550" b="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6609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What it's worth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the resale value for the condition it's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51460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6609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The costs to get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310896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trucking, handling, repairs</a:t>
            </a:r>
            <a:r>
              <a:rPr lang="en-US" sz="1150" dirty="0">
                <a:solidFill>
                  <a:srgbClr val="D5DBDB"/>
                </a:solidFill>
                <a:latin typeface="Arial"/>
              </a:rPr>
              <a:t> </a:t>
            </a:r>
            <a:r>
              <a:rPr sz="1150" b="0" i="0">
                <a:solidFill>
                  <a:srgbClr val="D5DBDB"/>
                </a:solidFill>
                <a:latin typeface="Arial"/>
              </a:rPr>
              <a:t>subtracted </a:t>
            </a:r>
            <a:r>
              <a:rPr sz="1150" b="0" i="0" dirty="0">
                <a:solidFill>
                  <a:srgbClr val="D5DBDB"/>
                </a:solidFill>
                <a:latin typeface="Arial"/>
              </a:rPr>
              <a:t>honestly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51460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19" y="26609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Who wants it nearby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3017520"/>
            <a:ext cx="3108960" cy="378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150">
                <a:solidFill>
                  <a:srgbClr val="D5DBDB"/>
                </a:solidFill>
                <a:ea typeface="+mn-lt"/>
                <a:cs typeface="+mn-lt"/>
              </a:rPr>
              <a:t>how many local buyers are looking for this right now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51959"/>
            <a:ext cx="3108960" cy="374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things lose value while they sit </a:t>
            </a:r>
            <a:r>
              <a:rPr lang="en-US" sz="1150">
                <a:solidFill>
                  <a:srgbClr val="D5DBDB"/>
                </a:solidFill>
                <a:latin typeface="Arial"/>
              </a:rPr>
              <a:t>and </a:t>
            </a:r>
            <a:r>
              <a:rPr sz="1150" b="0" i="0">
                <a:solidFill>
                  <a:srgbClr val="D5DBDB"/>
                </a:solidFill>
                <a:latin typeface="Arial"/>
              </a:rPr>
              <a:t> that counts as </a:t>
            </a:r>
            <a:r>
              <a:rPr sz="1150" b="0" i="0" dirty="0">
                <a:solidFill>
                  <a:srgbClr val="D5DBDB"/>
                </a:solidFill>
                <a:latin typeface="Arial"/>
              </a:rPr>
              <a:t>a cost too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49039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389534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The planet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51959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carbon saved by not trucking it far is worth money here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749039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19" y="389534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Cost of a mistake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4251959"/>
            <a:ext cx="3108960" cy="184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150">
                <a:solidFill>
                  <a:srgbClr val="D5DBDB"/>
                </a:solidFill>
                <a:ea typeface="+mn-lt"/>
                <a:cs typeface="+mn-lt"/>
              </a:rPr>
              <a:t>the penalty if </a:t>
            </a:r>
            <a:r>
              <a:rPr lang="en-US" sz="1150" b="0" i="0">
                <a:solidFill>
                  <a:srgbClr val="D5DBDB"/>
                </a:solidFill>
                <a:ea typeface="+mn-lt"/>
                <a:cs typeface="+mn-lt"/>
              </a:rPr>
              <a:t>this </a:t>
            </a:r>
            <a:r>
              <a:rPr lang="en-US" sz="1150">
                <a:solidFill>
                  <a:srgbClr val="D5DBDB"/>
                </a:solidFill>
                <a:ea typeface="+mn-lt"/>
                <a:cs typeface="+mn-lt"/>
              </a:rPr>
              <a:t>route fails and needs correcting</a:t>
            </a:r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40080" y="516636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332720" cy="500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FF9900"/>
                </a:solidFill>
                <a:latin typeface="Arial"/>
              </a:rPr>
              <a:t>No black box. </a:t>
            </a:r>
            <a:r>
              <a:rPr sz="1450" b="0" i="0">
                <a:solidFill>
                  <a:srgbClr val="D5DBDB"/>
                </a:solidFill>
                <a:latin typeface="Arial"/>
              </a:rPr>
              <a:t>It's plain arithmetic and clear rules </a:t>
            </a:r>
            <a:r>
              <a:rPr lang="en-US" sz="1450">
                <a:solidFill>
                  <a:srgbClr val="D5DBDB"/>
                </a:solidFill>
                <a:latin typeface="Arial"/>
              </a:rPr>
              <a:t>and </a:t>
            </a:r>
            <a:r>
              <a:rPr sz="1450" b="0" i="0">
                <a:solidFill>
                  <a:srgbClr val="D5DBDB"/>
                </a:solidFill>
                <a:latin typeface="Arial"/>
              </a:rPr>
              <a:t>you can read exactly why it chose what it chose. The AI only writes the 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one-line explanation; the </a:t>
            </a:r>
            <a:r>
              <a:rPr sz="1450" b="1" i="0" dirty="0">
                <a:solidFill>
                  <a:srgbClr val="FFFFFF"/>
                </a:solidFill>
                <a:latin typeface="Arial"/>
              </a:rPr>
              <a:t>rules do the deciding.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135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900">
                <a:solidFill>
                  <a:srgbClr val="9BA7B0"/>
                </a:solidFill>
                <a:latin typeface="Arial"/>
              </a:rPr>
              <a:t>0</a:t>
            </a:r>
            <a:endParaRPr sz="900" b="0" i="0">
              <a:solidFill>
                <a:srgbClr val="9BA7B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SEE IT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 real example: a returned wireless speaker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823" y="1298303"/>
            <a:ext cx="5632995" cy="1012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>
                <a:solidFill>
                  <a:srgbClr val="D5DBDB"/>
                </a:solidFill>
                <a:ea typeface="+mn-lt"/>
                <a:cs typeface="+mn-lt"/>
              </a:rPr>
              <a:t>Priya ordered a JBL Flip 6 for ₹6,499. It arrived fine but she just didn't like the sound.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Box unopened, return initiated.</a:t>
            </a:r>
            <a:endParaRPr lang="en-US" dirty="0"/>
          </a:p>
          <a:p>
            <a:r>
              <a:rPr lang="en-US" sz="1300" dirty="0" err="1">
                <a:solidFill>
                  <a:srgbClr val="D5DBDB"/>
                </a:solidFill>
                <a:ea typeface="+mn-lt"/>
                <a:cs typeface="+mn-lt"/>
              </a:rPr>
              <a:t>ReLoop's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 AI grades it in 3 seconds: </a:t>
            </a:r>
            <a:r>
              <a:rPr lang="en-US" sz="1300" b="1" dirty="0">
                <a:solidFill>
                  <a:srgbClr val="D5DBDB"/>
                </a:solidFill>
                <a:ea typeface="+mn-lt"/>
                <a:cs typeface="+mn-lt"/>
              </a:rPr>
              <a:t>Grade A</a:t>
            </a:r>
            <a:r>
              <a:rPr lang="en-US" sz="1300" b="1" i="0" dirty="0">
                <a:solidFill>
                  <a:srgbClr val="D5DBDB"/>
                </a:solidFill>
                <a:ea typeface="+mn-lt"/>
                <a:cs typeface="+mn-lt"/>
              </a:rPr>
              <a:t>, </a:t>
            </a:r>
            <a:r>
              <a:rPr lang="en-US" sz="1300" b="1" dirty="0">
                <a:solidFill>
                  <a:srgbClr val="D5DBDB"/>
                </a:solidFill>
                <a:ea typeface="+mn-lt"/>
                <a:cs typeface="+mn-lt"/>
              </a:rPr>
              <a:t>confidence 0.91.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 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The engine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then runs 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every option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simultaneously</a:t>
            </a:r>
            <a:endParaRPr lang="en-US" sz="1300" dirty="0">
              <a:solidFill>
                <a:srgbClr val="D5DBDB"/>
              </a:solidFill>
              <a:ea typeface="Calibri"/>
              <a:cs typeface="Calibri"/>
            </a:endParaRPr>
          </a:p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400"/>
              </a:spcAft>
            </a:pPr>
            <a:endParaRPr sz="1300" b="0" i="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669280" cy="338328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 w="12700">
            <a:solidFill>
              <a:srgbClr val="37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2578608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578608"/>
            <a:ext cx="100584" cy="10058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07008" y="2578608"/>
            <a:ext cx="100584" cy="100584"/>
          </a:xfrm>
          <a:prstGeom prst="ellipse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256032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A7B0"/>
                </a:solidFill>
                <a:latin typeface="Consolas"/>
              </a:rPr>
              <a:t>the engine's math, in rupees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852928"/>
            <a:ext cx="5266944" cy="2069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dirty="0">
                <a:solidFill>
                  <a:srgbClr val="FF9900"/>
                </a:solidFill>
                <a:latin typeface="Consolas"/>
              </a:rPr>
              <a:t>Best option </a:t>
            </a:r>
            <a:r>
              <a:rPr sz="1250" b="0" dirty="0" err="1">
                <a:solidFill>
                  <a:srgbClr val="FF9900"/>
                </a:solidFill>
                <a:latin typeface="Consolas"/>
              </a:rPr>
              <a:t>chosen:</a:t>
            </a:r>
            <a:r>
              <a:rPr sz="1250" b="0" dirty="0">
                <a:solidFill>
                  <a:srgbClr val="FF9900"/>
                </a:solidFill>
                <a:latin typeface="Consolas"/>
              </a:rPr>
              <a:t>  put it back on sale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endParaRPr sz="1250" b="0">
              <a:solidFill>
                <a:srgbClr val="FF9900"/>
              </a:solidFill>
              <a:latin typeface="Consolas"/>
            </a:endParaRP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lang="en-US" sz="1250">
                <a:solidFill>
                  <a:srgbClr val="2EC48D"/>
                </a:solidFill>
                <a:latin typeface="Consolas"/>
              </a:rPr>
              <a:t>Resell Nearby </a:t>
            </a:r>
            <a:r>
              <a:rPr sz="1250" b="0">
                <a:solidFill>
                  <a:srgbClr val="2EC48D"/>
                </a:solidFill>
                <a:latin typeface="Consolas"/>
              </a:rPr>
              <a:t>+₹</a:t>
            </a:r>
            <a:r>
              <a:rPr lang="en-US" sz="1250">
                <a:solidFill>
                  <a:srgbClr val="2EC48D"/>
                </a:solidFill>
                <a:latin typeface="Consolas"/>
              </a:rPr>
              <a:t>5,720   </a:t>
            </a:r>
            <a:r>
              <a:rPr sz="1250" b="0">
                <a:solidFill>
                  <a:srgbClr val="2EC48D"/>
                </a:solidFill>
                <a:latin typeface="Consolas"/>
              </a:rPr>
              <a:t>← winner</a:t>
            </a: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lang="en-US" sz="1250">
                <a:solidFill>
                  <a:srgbClr val="CFE8D6"/>
                </a:solidFill>
                <a:latin typeface="Consolas"/>
              </a:rPr>
              <a:t>Back on the shelf </a:t>
            </a:r>
            <a:r>
              <a:rPr sz="1250" b="0">
                <a:solidFill>
                  <a:srgbClr val="CFE8D6"/>
                </a:solidFill>
                <a:latin typeface="Consolas"/>
              </a:rPr>
              <a:t>+₹</a:t>
            </a:r>
            <a:r>
              <a:rPr lang="en-US" sz="1250">
                <a:solidFill>
                  <a:srgbClr val="CFE8D6"/>
                </a:solidFill>
                <a:latin typeface="Consolas"/>
              </a:rPr>
              <a:t>5,850</a:t>
            </a:r>
            <a:endParaRPr sz="1250" b="0">
              <a:solidFill>
                <a:srgbClr val="CFE8D6"/>
              </a:solidFill>
              <a:latin typeface="Consolas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FE8D6"/>
                </a:solidFill>
                <a:latin typeface="Consolas"/>
              </a:rPr>
              <a:t>Repair &amp; resell       +₹</a:t>
            </a:r>
            <a:r>
              <a:rPr lang="en-US" sz="1250">
                <a:solidFill>
                  <a:srgbClr val="CFE8D6"/>
                </a:solidFill>
                <a:latin typeface="Consolas"/>
              </a:rPr>
              <a:t>4,100</a:t>
            </a:r>
            <a:endParaRPr sz="1250" b="0">
              <a:solidFill>
                <a:srgbClr val="CFE8D6"/>
              </a:solidFill>
              <a:latin typeface="Consolas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FE8D6"/>
                </a:solidFill>
                <a:latin typeface="Consolas"/>
              </a:rPr>
              <a:t>Sell in a graded lot    +₹</a:t>
            </a:r>
            <a:r>
              <a:rPr lang="en-US" sz="1250">
                <a:solidFill>
                  <a:srgbClr val="CFE8D6"/>
                </a:solidFill>
                <a:latin typeface="Consolas"/>
              </a:rPr>
              <a:t>2,300</a:t>
            </a:r>
            <a:endParaRPr sz="1250" b="0">
              <a:solidFill>
                <a:srgbClr val="CFE8D6"/>
              </a:solidFill>
              <a:latin typeface="Consolas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FE8D6"/>
                </a:solidFill>
                <a:latin typeface="Consolas"/>
              </a:rPr>
              <a:t>Donate                  +₹182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endParaRPr sz="1250" b="0">
              <a:solidFill>
                <a:srgbClr val="CFE8D6"/>
              </a:solidFill>
              <a:latin typeface="Consolas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F26D6D"/>
                </a:solidFill>
                <a:latin typeface="Consolas"/>
              </a:rPr>
              <a:t>Ship it far away        −₹465   ← today's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F26D6D"/>
                </a:solidFill>
                <a:latin typeface="Consolas"/>
              </a:rPr>
              <a:t>                                  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1846" y="2454366"/>
            <a:ext cx="4983480" cy="15544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8674" y="2680789"/>
            <a:ext cx="4572000" cy="215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400" b="1">
                <a:solidFill>
                  <a:srgbClr val="FF9900"/>
                </a:solidFill>
                <a:latin typeface="Arial"/>
              </a:rPr>
              <a:t>Default Idea</a:t>
            </a: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650446" y="3048726"/>
            <a:ext cx="4572000" cy="713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50" b="0" i="0" dirty="0">
                <a:solidFill>
                  <a:srgbClr val="D5DBDB"/>
                </a:solidFill>
                <a:latin typeface="Arial"/>
              </a:rPr>
              <a:t>Today's default</a:t>
            </a:r>
            <a:r>
              <a:rPr lang="en-US" sz="1350" dirty="0">
                <a:solidFill>
                  <a:srgbClr val="D5DBDB"/>
                </a:solidFill>
                <a:latin typeface="Arial"/>
              </a:rPr>
              <a:t> is</a:t>
            </a:r>
            <a:r>
              <a:rPr sz="1350" b="0" i="0" dirty="0">
                <a:solidFill>
                  <a:srgbClr val="D5DBDB"/>
                </a:solidFill>
                <a:latin typeface="Arial"/>
              </a:rPr>
              <a:t> shipping it far </a:t>
            </a:r>
            <a:r>
              <a:rPr lang="en-US" sz="1350">
                <a:solidFill>
                  <a:srgbClr val="D5DBDB"/>
                </a:solidFill>
                <a:latin typeface="Arial"/>
              </a:rPr>
              <a:t>away</a:t>
            </a:r>
            <a:r>
              <a:rPr lang="en-US" sz="1350" b="0" i="0">
                <a:solidFill>
                  <a:srgbClr val="D5DBDB"/>
                </a:solidFill>
                <a:latin typeface="Arial"/>
              </a:rPr>
              <a:t> </a:t>
            </a:r>
            <a:r>
              <a:rPr lang="en-US" sz="1350">
                <a:solidFill>
                  <a:srgbClr val="D5DBDB"/>
                </a:solidFill>
                <a:latin typeface="Arial"/>
              </a:rPr>
              <a:t>and it</a:t>
            </a:r>
            <a:r>
              <a:rPr lang="en-US" sz="1350" dirty="0">
                <a:solidFill>
                  <a:srgbClr val="D5DBDB"/>
                </a:solidFill>
                <a:latin typeface="Arial"/>
              </a:rPr>
              <a:t> </a:t>
            </a:r>
            <a:r>
              <a:rPr sz="1350" b="0" i="0" dirty="0">
                <a:solidFill>
                  <a:srgbClr val="D5DBDB"/>
                </a:solidFill>
                <a:latin typeface="Arial"/>
              </a:rPr>
              <a:t>is the </a:t>
            </a:r>
            <a:r>
              <a:rPr sz="1350" b="1" i="0" dirty="0">
                <a:solidFill>
                  <a:srgbClr val="FFFFFF"/>
                </a:solidFill>
                <a:latin typeface="Arial"/>
              </a:rPr>
              <a:t>worst</a:t>
            </a:r>
            <a:r>
              <a:rPr sz="1350" b="0" i="0" dirty="0">
                <a:solidFill>
                  <a:srgbClr val="D5DBDB"/>
                </a:solidFill>
                <a:latin typeface="Arial"/>
              </a:rPr>
              <a:t> option here (it loses money). Every smarter choice is money we get to keep.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OBVIOUS WORRY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“But what if the AI gets it wrong?”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233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50" b="0" i="0">
                <a:solidFill>
                  <a:srgbClr val="D5DBDB"/>
                </a:solidFill>
                <a:latin typeface="Arial"/>
              </a:rPr>
              <a:t>Fair question. Three things make a wrong call cheap and rare </a:t>
            </a:r>
            <a:r>
              <a:rPr lang="en-US" sz="1550">
                <a:solidFill>
                  <a:srgbClr val="D5DBDB"/>
                </a:solidFill>
                <a:latin typeface="Arial"/>
              </a:rPr>
              <a:t>and </a:t>
            </a:r>
            <a:r>
              <a:rPr sz="1550" b="0" i="0">
                <a:solidFill>
                  <a:srgbClr val="D5DBDB"/>
                </a:solidFill>
                <a:latin typeface="Arial"/>
              </a:rPr>
              <a:t>not a disaster.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578608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31A22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3230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9900"/>
                </a:solidFill>
                <a:latin typeface="Arial"/>
              </a:rPr>
              <a:t>When unsure, it plays 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816352"/>
            <a:ext cx="9692640" cy="436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 dirty="0">
                <a:solidFill>
                  <a:srgbClr val="D5DBDB"/>
                </a:solidFill>
                <a:latin typeface="Arial"/>
              </a:rPr>
              <a:t>The less confident the AI is, the more cautious the option it's allowed to </a:t>
            </a:r>
            <a:r>
              <a:rPr sz="1300" b="0" i="0">
                <a:solidFill>
                  <a:srgbClr val="D5DBDB"/>
                </a:solidFill>
                <a:latin typeface="Arial"/>
              </a:rPr>
              <a:t>pick.</a:t>
            </a:r>
            <a:r>
              <a:rPr lang="en-US" sz="1300" dirty="0">
                <a:solidFill>
                  <a:srgbClr val="D5DBDB"/>
                </a:solidFill>
                <a:latin typeface="Arial"/>
                <a:ea typeface="+mn-lt"/>
                <a:cs typeface="Arial"/>
              </a:rPr>
              <a:t> 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Below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 a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confidence threshold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,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it skips local routing entirely and defaults to the warehouse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044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3813048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31A22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66674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9900"/>
                </a:solidFill>
                <a:latin typeface="Arial"/>
              </a:rPr>
              <a:t>Two humans double-check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050792"/>
            <a:ext cx="9692640" cy="430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 dirty="0">
                <a:solidFill>
                  <a:srgbClr val="D5DBDB"/>
                </a:solidFill>
                <a:latin typeface="Arial"/>
              </a:rPr>
              <a:t>A 30-second look by the pickup driver, then a 10-minute check at the local station</a:t>
            </a:r>
            <a:r>
              <a:rPr lang="en-US" sz="1300" dirty="0">
                <a:solidFill>
                  <a:srgbClr val="D5DBDB"/>
                </a:solidFill>
                <a:latin typeface="Arial"/>
              </a:rPr>
              <a:t> ( Amazon FBA ).</a:t>
            </a:r>
            <a:r>
              <a:rPr sz="1300" b="0" i="0" dirty="0">
                <a:solidFill>
                  <a:srgbClr val="D5DBDB"/>
                </a:solidFill>
                <a:latin typeface="Arial"/>
              </a:rPr>
              <a:t> If a person disagrees, the plan </a:t>
            </a:r>
            <a:r>
              <a:rPr sz="1300" b="0" i="0">
                <a:solidFill>
                  <a:srgbClr val="D5DBDB"/>
                </a:solidFill>
                <a:latin typeface="Arial"/>
              </a:rPr>
              <a:t>updates on the spot.</a:t>
            </a:r>
            <a:endParaRPr lang="en-US" sz="1300" b="0" i="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5047488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31A22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90118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9900"/>
                </a:solidFill>
                <a:latin typeface="Arial"/>
              </a:rPr>
              <a:t>Worst case =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285232"/>
            <a:ext cx="9692640" cy="2120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If nothing local makes sense, it does exactly what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happens today and sends 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it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to 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the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warehouse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. </a:t>
            </a:r>
            <a:r>
              <a:rPr lang="en-US" sz="1300" dirty="0" err="1">
                <a:solidFill>
                  <a:srgbClr val="D5DBDB"/>
                </a:solidFill>
                <a:ea typeface="+mn-lt"/>
                <a:cs typeface="+mn-lt"/>
              </a:rPr>
              <a:t>ReLoop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 can only do better, never worse.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HAPPY ENDINGS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Where your item can go — instead of the landfill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200400" cy="53492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The good next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600200"/>
            <a:ext cx="3566160" cy="53492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When it's picked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00200"/>
            <a:ext cx="4114800" cy="53492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Why it's better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051" y="2133019"/>
            <a:ext cx="3200400" cy="5349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Resold to someone nearby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1451" y="2133019"/>
            <a:ext cx="3566160" cy="5349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Good condition, buyers close by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7611" y="2133019"/>
            <a:ext cx="4114800" cy="5349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Recovers far more value; cash back in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051" y="2667943"/>
            <a:ext cx="3200400" cy="5349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Repaired, then resold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1451" y="2667943"/>
            <a:ext cx="3566160" cy="5349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One cheap fix makes it worth more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7611" y="2667943"/>
            <a:ext cx="4114800" cy="5349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A ₹300 cable can add ₹1,500 of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051" y="3202867"/>
            <a:ext cx="3200400" cy="5349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Bundled into a graded lot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1451" y="3202867"/>
            <a:ext cx="3566160" cy="5349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Cheaper or uncertain items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7611" y="3202867"/>
            <a:ext cx="4114800" cy="5349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Sold in clearly-labelled boxes that fetch more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051" y="3737791"/>
            <a:ext cx="3200400" cy="5349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Donated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1451" y="3737791"/>
            <a:ext cx="3566160" cy="5349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Nobody's buying, but it's usable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7611" y="3737791"/>
            <a:ext cx="4114800" cy="5349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Goodwill + tax credit instead of the bin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1051" y="4272715"/>
            <a:ext cx="3200400" cy="5349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Recycled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1451" y="4272715"/>
            <a:ext cx="3566160" cy="5349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Truly finished, or legally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77611" y="4272715"/>
            <a:ext cx="4114800" cy="5349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Materials recovered, done responsibly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051" y="4807639"/>
            <a:ext cx="3200400" cy="5349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Thrown away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1451" y="4807639"/>
            <a:ext cx="3566160" cy="5349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Legally the only option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7611" y="4807639"/>
            <a:ext cx="4114800" cy="5349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rIns="76200" bIns="12700" rtlCol="0" anchor="ctr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The number we're trying to SHRINK — every case logged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1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TRUST QUESTION</a:t>
            </a:r>
            <a:r>
              <a:rPr lang="en-US" sz="1250" b="1">
                <a:solidFill>
                  <a:srgbClr val="FF9900"/>
                </a:solidFill>
                <a:latin typeface="Arial"/>
              </a:rPr>
              <a:t>:</a:t>
            </a:r>
            <a:r>
              <a:rPr sz="1250" b="1" i="0">
                <a:solidFill>
                  <a:srgbClr val="FF9900"/>
                </a:solidFill>
                <a:latin typeface="Arial"/>
              </a:rPr>
              <a:t> WOULD A STRANGER BUY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ea typeface="+mn-lt"/>
                <a:cs typeface="+mn-lt"/>
              </a:rPr>
              <a:t>THE TRUST QUESTION:</a:t>
            </a:r>
            <a:r>
              <a:rPr lang="en-US" sz="3000" b="1" i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3000" b="1">
                <a:solidFill>
                  <a:srgbClr val="FFFFFF"/>
                </a:solidFill>
                <a:ea typeface="+mn-lt"/>
                <a:cs typeface="+mn-lt"/>
              </a:rPr>
              <a:t>WILL THE SELLER LET GO?</a:t>
            </a:r>
            <a:endParaRPr lang="en-US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577840" cy="1640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 b="1" dirty="0">
                <a:solidFill>
                  <a:srgbClr val="D5DBDB"/>
                </a:solidFill>
                <a:ea typeface="+mn-lt"/>
                <a:cs typeface="+mn-lt"/>
              </a:rPr>
              <a:t>Every item gets a health </a:t>
            </a:r>
            <a:r>
              <a:rPr lang="en-US" sz="1500" b="1" dirty="0" err="1">
                <a:solidFill>
                  <a:srgbClr val="D5DBDB"/>
                </a:solidFill>
                <a:ea typeface="+mn-lt"/>
                <a:cs typeface="+mn-lt"/>
              </a:rPr>
              <a:t>record</a:t>
            </a:r>
            <a:r>
              <a:rPr lang="en-US" sz="1500" b="1" dirty="0">
                <a:solidFill>
                  <a:srgbClr val="D5DBDB"/>
                </a:solidFill>
                <a:ea typeface="+mn-lt"/>
                <a:cs typeface="+mn-lt"/>
              </a:rPr>
              <a:t> so the seller knows exactly what they're sending</a:t>
            </a:r>
            <a:endParaRPr lang="en-US" dirty="0"/>
          </a:p>
          <a:p>
            <a:pPr algn="l">
              <a:spcBef>
                <a:spcPts val="0"/>
              </a:spcBef>
            </a:pPr>
            <a:endParaRPr lang="en-US" sz="1500" b="1" i="0" dirty="0">
              <a:solidFill>
                <a:srgbClr val="D5DBDB"/>
              </a:solidFill>
              <a:latin typeface="Calibri"/>
              <a:ea typeface="Calibri"/>
              <a:cs typeface="Calibri"/>
            </a:endParaRPr>
          </a:p>
          <a:p>
            <a:r>
              <a:rPr lang="en-US" sz="1500" dirty="0">
                <a:solidFill>
                  <a:srgbClr val="D5DBDB"/>
                </a:solidFill>
                <a:ea typeface="+mn-lt"/>
                <a:cs typeface="+mn-lt"/>
              </a:rPr>
              <a:t>Sellers hesitate to accept local routing because they don't know what their item is actually worth in its current state. The Health Card removes that hesitation.</a:t>
            </a:r>
            <a:endParaRPr lang="en-US" dirty="0"/>
          </a:p>
          <a:p>
            <a:pPr>
              <a:lnSpc>
                <a:spcPct val="122000"/>
              </a:lnSpc>
              <a:spcAft>
                <a:spcPts val="400"/>
              </a:spcAft>
            </a:pPr>
            <a:endParaRPr lang="en-US" sz="150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4309" y="3293291"/>
            <a:ext cx="5846354" cy="1922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 dirty="0">
                <a:solidFill>
                  <a:srgbClr val="FF9900"/>
                </a:solidFill>
                <a:latin typeface="Arial"/>
              </a:rPr>
              <a:t>•</a:t>
            </a:r>
            <a:r>
              <a:rPr lang="en-US" sz="1400" b="1" dirty="0">
                <a:solidFill>
                  <a:srgbClr val="FF99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A</a:t>
            </a:r>
            <a:r>
              <a:rPr lang="en-US" sz="1600" b="1" i="0" dirty="0">
                <a:solidFill>
                  <a:srgbClr val="FFFFFF"/>
                </a:solidFill>
                <a:ea typeface="+mn-lt"/>
                <a:cs typeface="+mn-lt"/>
              </a:rPr>
              <a:t> H</a:t>
            </a:r>
            <a:r>
              <a:rPr lang="en-US" sz="1600" b="1" i="0" err="1">
                <a:solidFill>
                  <a:srgbClr val="FFFFFF"/>
                </a:solidFill>
                <a:ea typeface="+mn-lt"/>
                <a:cs typeface="+mn-lt"/>
              </a:rPr>
              <a:t>e</a:t>
            </a:r>
            <a:r>
              <a:rPr lang="en-US" sz="1600" b="1" i="0" dirty="0">
                <a:solidFill>
                  <a:srgbClr val="FFFFFF"/>
                </a:solidFill>
                <a:ea typeface="+mn-lt"/>
                <a:cs typeface="+mn-lt"/>
              </a:rPr>
              <a:t>alth Card 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is generated the moment grading happens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Calibri"/>
              </a:rPr>
              <a:t> </a:t>
            </a:r>
            <a:r>
              <a:rPr lang="en-US" sz="1600" b="0" i="0">
                <a:solidFill>
                  <a:srgbClr val="D5DBDB"/>
                </a:solidFill>
                <a:ea typeface="+mn-lt"/>
                <a:cs typeface="+mn-lt"/>
              </a:rPr>
              <a:t>condition, photos, every </a:t>
            </a: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defect spotted, confidence </a:t>
            </a:r>
            <a:r>
              <a:rPr lang="en-US" sz="1600" dirty="0">
                <a:solidFill>
                  <a:srgbClr val="D5DBDB"/>
                </a:solidFill>
                <a:ea typeface="+mn-lt"/>
                <a:cs typeface="+mn-lt"/>
              </a:rPr>
              <a:t>score</a:t>
            </a:r>
            <a:r>
              <a:rPr lang="en-US" sz="1600" b="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 dirty="0">
                <a:solidFill>
                  <a:srgbClr val="FF9900"/>
                </a:solidFill>
                <a:latin typeface="Arial"/>
              </a:rPr>
              <a:t>•</a:t>
            </a:r>
            <a:r>
              <a:rPr sz="1600" b="1" i="0" dirty="0">
                <a:solidFill>
                  <a:srgbClr val="FF9900"/>
                </a:solidFill>
                <a:latin typeface="Arial"/>
              </a:rPr>
              <a:t> </a:t>
            </a:r>
            <a:r>
              <a:rPr lang="en-US" sz="1600" b="1" dirty="0">
                <a:solidFill>
                  <a:srgbClr val="FF99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+mn-lt"/>
                <a:cs typeface="Arial"/>
              </a:rPr>
              <a:t>I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+mn-lt"/>
                <a:cs typeface="Calibri"/>
              </a:rPr>
              <a:t>t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 tells the seller exactly what they have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sz="1600" b="0" i="0" dirty="0">
                <a:solidFill>
                  <a:srgbClr val="FFFFFF"/>
                </a:solidFill>
                <a:ea typeface="+mn-lt"/>
                <a:cs typeface="+mn-lt"/>
              </a:rPr>
              <a:t>not a 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guess, a verified 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snapshot </a:t>
            </a:r>
            <a:r>
              <a:rPr lang="en-US" sz="1600" b="0" i="0">
                <a:solidFill>
                  <a:srgbClr val="FFFFFF"/>
                </a:solidFill>
                <a:ea typeface="+mn-lt"/>
                <a:cs typeface="+mn-lt"/>
              </a:rPr>
              <a:t>so 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they </a:t>
            </a:r>
            <a:r>
              <a:rPr lang="en-US" sz="1600" b="0" i="0">
                <a:solidFill>
                  <a:srgbClr val="FFFFFF"/>
                </a:solidFill>
                <a:ea typeface="+mn-lt"/>
                <a:cs typeface="+mn-lt"/>
              </a:rPr>
              <a:t>can 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make the local routing decision with 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confidence</a:t>
            </a:r>
            <a:r>
              <a:rPr lang="en-US" sz="1600" b="0" i="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lang="en-US" sz="1600" b="1">
                <a:solidFill>
                  <a:srgbClr val="D5DBDB"/>
                </a:solidFill>
                <a:ea typeface="+mn-lt"/>
                <a:cs typeface="+mn-lt"/>
              </a:rPr>
              <a:t>It travels with </a:t>
            </a:r>
            <a:r>
              <a:rPr lang="en-US" sz="1600" b="1" i="0">
                <a:solidFill>
                  <a:srgbClr val="D5DBDB"/>
                </a:solidFill>
                <a:ea typeface="+mn-lt"/>
                <a:cs typeface="+mn-lt"/>
              </a:rPr>
              <a:t>the item</a:t>
            </a:r>
            <a:r>
              <a:rPr lang="en-US" sz="1600" i="0">
                <a:solidFill>
                  <a:srgbClr val="D5DBDB"/>
                </a:solidFill>
                <a:ea typeface="+mn-lt"/>
                <a:cs typeface="+mn-lt"/>
              </a:rPr>
              <a:t> </a:t>
            </a:r>
            <a:r>
              <a:rPr lang="en-US" sz="1600" b="0" i="0">
                <a:solidFill>
                  <a:srgbClr val="D5DBDB"/>
                </a:solidFill>
                <a:ea typeface="+mn-lt"/>
                <a:cs typeface="+mn-lt"/>
              </a:rPr>
              <a:t>to </a:t>
            </a: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the hub </a:t>
            </a:r>
            <a:r>
              <a:rPr lang="en-US" sz="1600" b="0" i="0">
                <a:solidFill>
                  <a:srgbClr val="D5DBDB"/>
                </a:solidFill>
                <a:ea typeface="+mn-lt"/>
                <a:cs typeface="+mn-lt"/>
              </a:rPr>
              <a:t>and the </a:t>
            </a: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buyer, so everyone in the chain sees the same verified truth</a:t>
            </a:r>
            <a:r>
              <a:rPr lang="en-US" sz="1600" b="0" i="0">
                <a:solidFill>
                  <a:srgbClr val="D5DBDB"/>
                </a:solidFill>
                <a:ea typeface="+mn-lt"/>
                <a:cs typeface="+mn-lt"/>
              </a:rPr>
              <a:t>.</a:t>
            </a:r>
            <a:endParaRPr lang="en-US" sz="1600">
              <a:ea typeface="+mn-lt"/>
              <a:cs typeface="+mn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46520" y="1737360"/>
            <a:ext cx="5074920" cy="4023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46520" y="1737360"/>
            <a:ext cx="5074920" cy="10972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201168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PRODUCT HEALTH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060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C48D"/>
                </a:solidFill>
                <a:latin typeface="Arial"/>
              </a:rPr>
              <a:t>✓ Condition: like-new (verified)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1089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C48D"/>
                </a:solidFill>
                <a:latin typeface="Arial"/>
              </a:rPr>
              <a:t>✓ Checked at pickup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6118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C48D"/>
                </a:solidFill>
                <a:latin typeface="Arial"/>
              </a:rPr>
              <a:t>✓ Checked at the local station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1148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C48D"/>
                </a:solidFill>
                <a:latin typeface="Arial"/>
              </a:rPr>
              <a:t>✓ Genuine — serial matches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6177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5DBDB"/>
                </a:solidFill>
                <a:latin typeface="Arial"/>
              </a:rPr>
              <a:t>• Photos 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5DBDB"/>
                </a:solidFill>
                <a:latin typeface="Arial"/>
              </a:rPr>
              <a:t>• Owner 2 of 2 · CO₂ saved so 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IT DOESN'T STOP AT “LIST IT”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3000" b="1">
                <a:solidFill>
                  <a:srgbClr val="FFFFFF"/>
                </a:solidFill>
                <a:latin typeface="Arial"/>
              </a:rPr>
              <a:t>An</a:t>
            </a:r>
            <a:r>
              <a:rPr lang="en-US" sz="3000" b="1" dirty="0">
                <a:solidFill>
                  <a:srgbClr val="FFFFFF"/>
                </a:solidFill>
                <a:latin typeface="Arial"/>
              </a:rPr>
              <a:t> agent</a:t>
            </a:r>
            <a:r>
              <a:rPr sz="3000" b="1" i="0" dirty="0">
                <a:solidFill>
                  <a:srgbClr val="FFFFFF"/>
                </a:solidFill>
                <a:latin typeface="Arial"/>
              </a:rPr>
              <a:t> keeps working until the item sells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577840" cy="2156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 i="0" dirty="0">
                <a:solidFill>
                  <a:srgbClr val="FF9900"/>
                </a:solidFill>
                <a:latin typeface="Arial"/>
              </a:rPr>
              <a:t>• 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600" i="0" dirty="0">
                <a:solidFill>
                  <a:srgbClr val="FFFFFF"/>
                </a:solidFill>
                <a:ea typeface="+mn-lt"/>
                <a:cs typeface="+mn-lt"/>
              </a:rPr>
              <a:t>watches each listing </a:t>
            </a:r>
            <a:r>
              <a:rPr lang="en-US" sz="1600" b="0" i="0" dirty="0">
                <a:solidFill>
                  <a:srgbClr val="FFFFFF"/>
                </a:solidFill>
                <a:ea typeface="+mn-lt"/>
                <a:cs typeface="+mn-lt"/>
              </a:rPr>
              <a:t>and adjusts the price 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as time runs out and 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demand shifts</a:t>
            </a:r>
            <a:r>
              <a:rPr lang="en-US" sz="1600" b="0" i="0">
                <a:solidFill>
                  <a:srgbClr val="FFFFFF"/>
                </a:solidFill>
                <a:ea typeface="+mn-lt"/>
                <a:cs typeface="+mn-lt"/>
              </a:rPr>
              <a:t> something a warehouse queue can never do.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500" b="1" i="0" dirty="0">
                <a:solidFill>
                  <a:srgbClr val="FFFFFF"/>
                </a:solidFill>
                <a:latin typeface="Arial"/>
              </a:rPr>
              <a:t>It finds the right buyers </a:t>
            </a:r>
            <a:r>
              <a:rPr sz="1500" b="0" i="0" dirty="0">
                <a:solidFill>
                  <a:srgbClr val="D5DBDB"/>
                </a:solidFill>
                <a:latin typeface="Arial"/>
              </a:rPr>
              <a:t>by tapping into who nearby already searched for, </a:t>
            </a:r>
            <a:r>
              <a:rPr sz="1500" b="0" i="0" dirty="0" err="1">
                <a:solidFill>
                  <a:srgbClr val="D5DBDB"/>
                </a:solidFill>
                <a:latin typeface="Arial"/>
              </a:rPr>
              <a:t>wishlisted</a:t>
            </a:r>
            <a:r>
              <a:rPr sz="1500" b="0" i="0" dirty="0">
                <a:solidFill>
                  <a:srgbClr val="D5DBDB"/>
                </a:solidFill>
                <a:latin typeface="Arial"/>
              </a:rPr>
              <a:t>, or bought similar things.</a:t>
            </a:r>
            <a:endParaRPr sz="1500" b="0" i="0" dirty="0">
              <a:solidFill>
                <a:srgbClr val="D5DBDB"/>
              </a:solidFill>
              <a:latin typeface="Arial"/>
              <a:cs typeface="Arial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500" b="1" i="0" dirty="0">
                <a:solidFill>
                  <a:srgbClr val="FFFFFF"/>
                </a:solidFill>
                <a:latin typeface="Arial"/>
              </a:rPr>
              <a:t>It knows when to give up gracefully. </a:t>
            </a:r>
            <a:r>
              <a:rPr sz="1500" b="0" i="0" dirty="0">
                <a:solidFill>
                  <a:srgbClr val="D5DBDB"/>
                </a:solidFill>
                <a:latin typeface="Arial"/>
              </a:rPr>
              <a:t>If resale truly isn't </a:t>
            </a:r>
            <a:r>
              <a:rPr sz="1500" b="0" i="0">
                <a:solidFill>
                  <a:srgbClr val="D5DBDB"/>
                </a:solidFill>
                <a:latin typeface="Arial"/>
              </a:rPr>
              <a:t>working, it doesn't let the item rot it hands it back to the engine, </a:t>
            </a:r>
            <a:r>
              <a:rPr sz="1500" b="0" i="0" dirty="0">
                <a:solidFill>
                  <a:srgbClr val="D5DBDB"/>
                </a:solidFill>
                <a:latin typeface="Arial"/>
              </a:rPr>
              <a:t>which donates or recycles it instead.</a:t>
            </a:r>
            <a:endParaRPr sz="1500" b="0" i="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46520" y="1783080"/>
            <a:ext cx="5074920" cy="38404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20116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9900"/>
                </a:solidFill>
                <a:latin typeface="Arial"/>
              </a:rPr>
              <a:t>Where a buyer sees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572000" cy="57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Verified open-box </a:t>
            </a:r>
            <a:r>
              <a:rPr lang="en-US" sz="1600" i="0">
                <a:solidFill>
                  <a:srgbClr val="D5DBDB"/>
                </a:solidFill>
                <a:ea typeface="+mn-lt"/>
                <a:cs typeface="+mn-lt"/>
              </a:rPr>
              <a:t>near you </a:t>
            </a: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which</a:t>
            </a:r>
            <a:r>
              <a:rPr lang="en-US" sz="1600" i="0">
                <a:solidFill>
                  <a:srgbClr val="D5DBDB"/>
                </a:solidFill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is </a:t>
            </a:r>
            <a:r>
              <a:rPr lang="en-US" sz="1600" i="0">
                <a:solidFill>
                  <a:srgbClr val="D5DBDB"/>
                </a:solidFill>
                <a:ea typeface="+mn-lt"/>
                <a:cs typeface="+mn-lt"/>
              </a:rPr>
              <a:t>checked, guaranteed, </a:t>
            </a:r>
            <a:r>
              <a:rPr lang="en-US" sz="1600" i="0" dirty="0">
                <a:solidFill>
                  <a:srgbClr val="D5DBDB"/>
                </a:solidFill>
                <a:ea typeface="+mn-lt"/>
                <a:cs typeface="+mn-lt"/>
              </a:rPr>
              <a:t>delivered today</a:t>
            </a:r>
            <a:r>
              <a:rPr lang="en-US" sz="1600" b="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720840" y="4069080"/>
            <a:ext cx="4526280" cy="137160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425196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CFE8D6"/>
                </a:solidFill>
                <a:latin typeface="Consolas"/>
              </a:rPr>
              <a:t>A returns warehouse can't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CFE8D6"/>
                </a:solidFill>
                <a:latin typeface="Consolas"/>
              </a:rPr>
              <a:t>negotiate a price or chase 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5DC8E8"/>
                </a:solidFill>
                <a:latin typeface="Consolas"/>
              </a:rPr>
              <a:t>buyer. This little agent does 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5DC8E8"/>
                </a:solidFill>
                <a:latin typeface="Consolas"/>
              </a:rPr>
              <a:t>every single 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FOLLOW THE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Why this actually saves and makes money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91440" cy="1737360"/>
          </a:xfrm>
          <a:prstGeom prst="rect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C48D"/>
                </a:solidFill>
                <a:latin typeface="Arial"/>
              </a:rPr>
              <a:t>Skip the long trip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For local items, we delete the sorting hop, the 500km+ haul, and the weeks of waiting. That's pure saved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91440" cy="1737360"/>
          </a:xfrm>
          <a:prstGeom prst="rect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98424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C48D"/>
                </a:solidFill>
                <a:latin typeface="Arial"/>
              </a:rPr>
              <a:t>Sell before value drops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Electronics and fashion lose value fast. Selling in days instead of weeks keeps more of the price.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91440" cy="1737360"/>
          </a:xfrm>
          <a:prstGeom prst="rect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50207"/>
            <a:ext cx="4846320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b="1">
                <a:solidFill>
                  <a:srgbClr val="2EC48D"/>
                </a:solidFill>
                <a:ea typeface="+mn-lt"/>
                <a:cs typeface="+mn-lt"/>
              </a:rPr>
              <a:t>Match before it moves</a:t>
            </a:r>
            <a:endParaRPr lang="en-US" sz="2000" b="1"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39"/>
            <a:ext cx="4846320" cy="638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50" b="0" i="0" dirty="0">
                <a:solidFill>
                  <a:srgbClr val="D5DBDB"/>
                </a:solidFill>
                <a:ea typeface="+mn-lt"/>
                <a:cs typeface="+mn-lt"/>
              </a:rPr>
              <a:t>A </a:t>
            </a:r>
            <a:r>
              <a:rPr lang="en-US" sz="1350" dirty="0">
                <a:solidFill>
                  <a:srgbClr val="D5DBDB"/>
                </a:solidFill>
                <a:ea typeface="+mn-lt"/>
                <a:cs typeface="+mn-lt"/>
              </a:rPr>
              <a:t>buyer is found during the pickup </a:t>
            </a:r>
            <a:r>
              <a:rPr lang="en-US" sz="1350" dirty="0" err="1">
                <a:solidFill>
                  <a:srgbClr val="D5DBDB"/>
                </a:solidFill>
                <a:ea typeface="+mn-lt"/>
                <a:cs typeface="+mn-lt"/>
              </a:rPr>
              <a:t>window</a:t>
            </a:r>
            <a:r>
              <a:rPr lang="en-US" sz="1350" dirty="0">
                <a:solidFill>
                  <a:srgbClr val="D5DBDB"/>
                </a:solidFill>
                <a:ea typeface="+mn-lt"/>
                <a:cs typeface="+mn-lt"/>
              </a:rPr>
              <a:t> so </a:t>
            </a:r>
            <a:r>
              <a:rPr lang="en-US" sz="1350" b="0" i="0" dirty="0">
                <a:solidFill>
                  <a:srgbClr val="D5DBDB"/>
                </a:solidFill>
                <a:ea typeface="+mn-lt"/>
                <a:cs typeface="+mn-lt"/>
              </a:rPr>
              <a:t>the </a:t>
            </a:r>
            <a:r>
              <a:rPr lang="en-US" sz="1350" dirty="0">
                <a:solidFill>
                  <a:srgbClr val="D5DBDB"/>
                </a:solidFill>
                <a:ea typeface="+mn-lt"/>
                <a:cs typeface="+mn-lt"/>
              </a:rPr>
              <a:t>item travels once, direct to its next owner. No warehouse stop, no second shipment</a:t>
            </a:r>
            <a:r>
              <a:rPr lang="en-US" sz="1350" b="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endParaRPr sz="1350" b="0" i="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200" y="3749039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749039"/>
            <a:ext cx="91440" cy="1737360"/>
          </a:xfrm>
          <a:prstGeom prst="rect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950207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C48D"/>
                </a:solidFill>
                <a:latin typeface="Arial"/>
              </a:rPr>
              <a:t>Better liquidation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34839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Clearly-labelled, graded boxes sell for more than “mystery pallets,” because buyers can see what's inside.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WHY THIS IS AMAZON'S TO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 dirty="0">
                <a:solidFill>
                  <a:srgbClr val="FFFFFF"/>
                </a:solidFill>
                <a:latin typeface="Arial"/>
              </a:rPr>
              <a:t>Amazon already owns the </a:t>
            </a:r>
            <a:r>
              <a:rPr sz="3000" b="1" i="0" dirty="0" err="1">
                <a:solidFill>
                  <a:srgbClr val="FFFFFF"/>
                </a:solidFill>
                <a:latin typeface="Arial"/>
              </a:rPr>
              <a:t>rails</a:t>
            </a:r>
            <a:r>
              <a:rPr sz="30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000" b="1" dirty="0">
                <a:solidFill>
                  <a:srgbClr val="FFFFFF"/>
                </a:solidFill>
                <a:latin typeface="Arial"/>
              </a:rPr>
              <a:t>and we</a:t>
            </a:r>
            <a:r>
              <a:rPr sz="3000" b="1" i="0" dirty="0">
                <a:solidFill>
                  <a:srgbClr val="FFFFFF"/>
                </a:solidFill>
                <a:latin typeface="Arial"/>
              </a:rPr>
              <a:t> add the missing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1698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550" b="1" i="0" dirty="0">
                <a:solidFill>
                  <a:srgbClr val="FFFFFF"/>
                </a:solidFill>
                <a:latin typeface="Arial"/>
              </a:rPr>
              <a:t>The trucks, stations, and resale stores already exist. </a:t>
            </a:r>
            <a:r>
              <a:rPr sz="1550" b="0" i="0" dirty="0" err="1">
                <a:solidFill>
                  <a:srgbClr val="D5DBDB"/>
                </a:solidFill>
                <a:latin typeface="Arial"/>
              </a:rPr>
              <a:t>ReLoop</a:t>
            </a:r>
            <a:r>
              <a:rPr sz="1550" b="0" i="0" dirty="0">
                <a:solidFill>
                  <a:srgbClr val="D5DBDB"/>
                </a:solidFill>
                <a:latin typeface="Arial"/>
              </a:rPr>
              <a:t> doesn't rebuild any of that</a:t>
            </a:r>
            <a:r>
              <a:rPr lang="en-US" sz="1550" dirty="0">
                <a:solidFill>
                  <a:srgbClr val="D5DBDB"/>
                </a:solidFill>
                <a:latin typeface="Arial"/>
              </a:rPr>
              <a:t>,</a:t>
            </a:r>
            <a:r>
              <a:rPr sz="1550" b="0" i="0" dirty="0">
                <a:solidFill>
                  <a:srgbClr val="D5DBDB"/>
                </a:solidFill>
                <a:latin typeface="Arial"/>
              </a:rPr>
              <a:t> it just adds a brain at the very start.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550" b="1" i="0" dirty="0">
                <a:solidFill>
                  <a:srgbClr val="FFFFFF"/>
                </a:solidFill>
                <a:latin typeface="Arial"/>
              </a:rPr>
              <a:t>The trust is already there. </a:t>
            </a:r>
            <a:r>
              <a:rPr sz="1550" b="0" i="0">
                <a:solidFill>
                  <a:srgbClr val="D5DBDB"/>
                </a:solidFill>
                <a:latin typeface="Arial"/>
              </a:rPr>
              <a:t>Every item is Amazon-checked and guaranteed </a:t>
            </a:r>
            <a:r>
              <a:rPr lang="en-US" sz="1550">
                <a:solidFill>
                  <a:srgbClr val="D5DBDB"/>
                </a:solidFill>
                <a:latin typeface="Arial"/>
              </a:rPr>
              <a:t>and</a:t>
            </a:r>
            <a:r>
              <a:rPr sz="1550" b="0" i="0">
                <a:solidFill>
                  <a:srgbClr val="D5DBDB"/>
                </a:solidFill>
                <a:latin typeface="Arial"/>
              </a:rPr>
              <a:t> not a stranger's promise. This is why it's not </a:t>
            </a:r>
            <a:r>
              <a:rPr sz="1550" b="0" i="0" dirty="0">
                <a:solidFill>
                  <a:srgbClr val="D5DBDB"/>
                </a:solidFill>
                <a:latin typeface="Arial"/>
              </a:rPr>
              <a:t>just another used-goods app.</a:t>
            </a:r>
            <a:endParaRPr sz="1550" b="0" i="0" dirty="0">
              <a:solidFill>
                <a:srgbClr val="D5DBDB"/>
              </a:solidFill>
              <a:latin typeface="Arial"/>
              <a:cs typeface="Arial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550" b="1" i="0">
                <a:solidFill>
                  <a:srgbClr val="FFFFFF"/>
                </a:solidFill>
                <a:latin typeface="Arial"/>
              </a:rPr>
              <a:t>It's a safe bet. </a:t>
            </a:r>
            <a:r>
              <a:rPr sz="1550" b="0" i="0">
                <a:solidFill>
                  <a:srgbClr val="D5DBDB"/>
                </a:solidFill>
                <a:latin typeface="Arial"/>
              </a:rPr>
              <a:t>Worst case, it does exactly what happens today. Every good early decision on top of that is pure upside.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576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dirty="0">
                <a:solidFill>
                  <a:srgbClr val="FF9900"/>
                </a:solidFill>
                <a:latin typeface="Arial"/>
              </a:rPr>
              <a:t>In one line: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look at the item at your door, decide its best next home before it moves and waste far 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Arial"/>
              </a:rPr>
              <a:t>ReLoop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D5DBDB"/>
                </a:solidFill>
                <a:latin typeface="Arial"/>
              </a:rPr>
              <a:t>Grade at the doorstep.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9900"/>
                </a:solidFill>
                <a:latin typeface="Arial"/>
              </a:rPr>
              <a:t>Decide before the item moves.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9BA7B0"/>
                </a:solidFill>
                <a:latin typeface="Arial"/>
              </a:rPr>
              <a:t>“The landfill is a design flaw.”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DC8E8"/>
                </a:solidFill>
                <a:latin typeface="Arial"/>
              </a:rPr>
              <a:t>reloop-woad.vercel.app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201</cp:revision>
  <dcterms:created xsi:type="dcterms:W3CDTF">2013-01-27T09:14:16Z</dcterms:created>
  <dcterms:modified xsi:type="dcterms:W3CDTF">2026-07-05T10:17:48Z</dcterms:modified>
  <cp:category/>
</cp:coreProperties>
</file>
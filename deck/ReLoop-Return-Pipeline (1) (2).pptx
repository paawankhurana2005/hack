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2" r:id="rId15"/>
    <p:sldId id="274" r:id="rId22"/>
    <p:sldId id="275" r:id="rId23"/>
    <p:sldId id="276" r:id="rId24"/>
    <p:sldId id="277" r:id="rId2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E0C409-EDD4-4867-8B9A-7185CD952530}" v="1610" dt="2026-07-05T10:17:20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5/10/relationships/revisionInfo" Target="revisionInfo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2156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400" b="1" dirty="0">
                <a:solidFill>
                  <a:srgbClr val="FF9900"/>
                </a:solidFill>
                <a:latin typeface="Arial"/>
                <a:cs typeface="Arial"/>
              </a:rPr>
              <a:t>Second Life </a:t>
            </a:r>
            <a:r>
              <a:rPr lang="en-US" sz="1400" b="1">
                <a:solidFill>
                  <a:srgbClr val="FF9900"/>
                </a:solidFill>
                <a:latin typeface="Arial"/>
                <a:cs typeface="Arial"/>
              </a:rPr>
              <a:t>Commerce: AI Powered Returns</a:t>
            </a:r>
            <a:endParaRPr lang="en-US" sz="1400" b="1" dirty="0">
              <a:solidFill>
                <a:srgbClr val="FF9900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200" b="1" i="0">
                <a:solidFill>
                  <a:srgbClr val="FFFFFF"/>
                </a:solidFill>
                <a:latin typeface="Arial"/>
              </a:rPr>
              <a:t>ReLoop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28274"/>
            <a:ext cx="10698480" cy="973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999"/>
              </a:lnSpc>
              <a:spcAft>
                <a:spcPts val="400"/>
              </a:spcAft>
            </a:pPr>
            <a:r>
              <a:rPr lang="en-US" sz="2700">
                <a:solidFill>
                  <a:srgbClr val="D5DBDB"/>
                </a:solidFill>
                <a:latin typeface="Arial"/>
                <a:ea typeface="+mn-lt"/>
                <a:cs typeface="Arial"/>
              </a:rPr>
              <a:t>The intelligence layer for Amazon's return pipeline.</a:t>
            </a:r>
            <a:endParaRPr lang="en-US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>
              <a:lnSpc>
                <a:spcPct val="115999"/>
              </a:lnSpc>
              <a:spcAft>
                <a:spcPts val="400"/>
              </a:spcAft>
            </a:pPr>
            <a:r>
              <a:rPr lang="en-US" sz="2700" dirty="0">
                <a:solidFill>
                  <a:srgbClr val="D5DBDB"/>
                </a:solidFill>
                <a:latin typeface="Arial"/>
                <a:ea typeface="+mn-lt"/>
                <a:cs typeface="Arial"/>
              </a:rPr>
              <a:t> Grade at the doorstep, decide the item's next life </a:t>
            </a:r>
            <a:r>
              <a:rPr lang="en-US" sz="2700" b="1" dirty="0">
                <a:solidFill>
                  <a:srgbClr val="FF9900"/>
                </a:solidFill>
                <a:latin typeface="Arial"/>
                <a:ea typeface="+mn-lt"/>
                <a:cs typeface="Arial"/>
              </a:rPr>
              <a:t>before it </a:t>
            </a:r>
            <a:r>
              <a:rPr lang="en-US" sz="2700" b="1">
                <a:solidFill>
                  <a:srgbClr val="FF9900"/>
                </a:solidFill>
                <a:latin typeface="Arial"/>
                <a:ea typeface="+mn-lt"/>
                <a:cs typeface="Arial"/>
              </a:rPr>
              <a:t>moves.</a:t>
            </a:r>
            <a:endParaRPr lang="en-US" sz="2700" dirty="0">
              <a:solidFill>
                <a:srgbClr val="D5DBDB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058400" cy="255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700" b="0" i="1">
                <a:solidFill>
                  <a:srgbClr val="9BA7B0"/>
                </a:solidFill>
                <a:latin typeface="Arial"/>
              </a:rPr>
              <a:t>The smart layer that sits on top of Amazon's returns</a:t>
            </a:r>
            <a:r>
              <a:rPr lang="en-US" sz="1700" i="1">
                <a:solidFill>
                  <a:srgbClr val="9BA7B0"/>
                </a:solidFill>
                <a:latin typeface="Arial"/>
              </a:rPr>
              <a:t>, </a:t>
            </a:r>
            <a:r>
              <a:rPr sz="1700" b="0" i="1">
                <a:solidFill>
                  <a:srgbClr val="9BA7B0"/>
                </a:solidFill>
                <a:latin typeface="Arial"/>
              </a:rPr>
              <a:t>so far less gets wasted.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START WITH SOMETHING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What actually happens after you click “Return”?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D5DBDB"/>
                </a:solidFill>
                <a:latin typeface="Arial"/>
              </a:rPr>
              <a:t>You hand the package back and forget about it. Behind the scenes, it goes on a surprisingly long trip: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1664208" cy="16002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261872" y="2487168"/>
            <a:ext cx="420624" cy="420624"/>
          </a:xfrm>
          <a:prstGeom prst="ellipse">
            <a:avLst/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17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Picked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310128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D5DBDB"/>
                </a:solidFill>
                <a:latin typeface="Arial"/>
              </a:rPr>
              <a:t>a driver collects it from your door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2880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9900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2331720"/>
            <a:ext cx="1664208" cy="16002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90672" y="2487168"/>
            <a:ext cx="420624" cy="420624"/>
          </a:xfrm>
          <a:prstGeom prst="ellipse">
            <a:avLst/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3017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Local depot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3310128"/>
            <a:ext cx="1463040" cy="296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50" b="0" i="0">
                <a:solidFill>
                  <a:srgbClr val="D5DBDB"/>
                </a:solidFill>
                <a:latin typeface="Arial"/>
              </a:rPr>
              <a:t>it stops at a nearby station</a:t>
            </a:r>
            <a:r>
              <a:rPr lang="en-US" sz="950" dirty="0">
                <a:solidFill>
                  <a:srgbClr val="D5DBDB"/>
                </a:solidFill>
                <a:latin typeface="Arial"/>
              </a:rPr>
              <a:t> </a:t>
            </a:r>
            <a:r>
              <a:rPr sz="950" b="0" i="0" dirty="0">
                <a:solidFill>
                  <a:srgbClr val="D5DBDB"/>
                </a:solidFill>
                <a:latin typeface="Arial"/>
              </a:rPr>
              <a:t>just passing through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2880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9900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331720"/>
            <a:ext cx="1664208" cy="16002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19472" y="2487168"/>
            <a:ext cx="420624" cy="420624"/>
          </a:xfrm>
          <a:prstGeom prst="ellipse">
            <a:avLst/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3017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Sorting center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310128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D5DBDB"/>
                </a:solidFill>
                <a:latin typeface="Arial"/>
              </a:rPr>
              <a:t>trucked to a bigger hub to be batched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0448" y="2880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9900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2331720"/>
            <a:ext cx="1664208" cy="16002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748272" y="2487168"/>
            <a:ext cx="420624" cy="420624"/>
          </a:xfrm>
          <a:prstGeom prst="ellipse">
            <a:avLst/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3017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Returns center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3310128"/>
            <a:ext cx="1463040" cy="296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 dirty="0">
                <a:solidFill>
                  <a:srgbClr val="D5DBDB"/>
                </a:solidFill>
                <a:latin typeface="Arial"/>
              </a:rPr>
              <a:t>hauled hundreds of km </a:t>
            </a:r>
            <a:r>
              <a:rPr sz="950" b="0" i="0">
                <a:solidFill>
                  <a:srgbClr val="D5DBDB"/>
                </a:solidFill>
                <a:latin typeface="Arial"/>
              </a:rPr>
              <a:t>away often 500km+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2880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9900"/>
                </a:solidFill>
                <a:latin typeface="Arial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2331720"/>
            <a:ext cx="1664208" cy="16002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577071" y="2487168"/>
            <a:ext cx="420624" cy="420624"/>
          </a:xfrm>
          <a:prstGeom prst="ellipse">
            <a:avLst/>
          </a:prstGeom>
          <a:solidFill>
            <a:srgbClr val="374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7" y="3017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Waits in 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7" y="3310128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D5DBDB"/>
                </a:solidFill>
                <a:latin typeface="Arial"/>
              </a:rPr>
              <a:t>sits for days or weeks before anyone looks at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28047" y="2880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9900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2331720"/>
            <a:ext cx="1664208" cy="160020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405872" y="2487168"/>
            <a:ext cx="420624" cy="42062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31A22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1752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Finally graded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310128"/>
            <a:ext cx="14630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D5DBDB"/>
                </a:solidFill>
                <a:latin typeface="Arial"/>
              </a:rPr>
              <a:t>only NOW does a person decide what it's worth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3434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 w="1587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6515" y="4557486"/>
            <a:ext cx="10593976" cy="634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sz="1800" b="1" i="0" dirty="0">
                <a:solidFill>
                  <a:srgbClr val="FF9900"/>
                </a:solidFill>
                <a:latin typeface="Arial"/>
              </a:rPr>
              <a:t>The catch:  </a:t>
            </a:r>
            <a:r>
              <a:rPr sz="1800" b="1" i="0" dirty="0">
                <a:solidFill>
                  <a:srgbClr val="FFFFFF"/>
                </a:solidFill>
                <a:latin typeface="Arial"/>
              </a:rPr>
              <a:t>the single most important decision</a:t>
            </a:r>
            <a:r>
              <a:rPr lang="en-US" b="1" dirty="0">
                <a:solidFill>
                  <a:srgbClr val="FFFFFF"/>
                </a:solidFill>
                <a:latin typeface="Arial"/>
              </a:rPr>
              <a:t> is that </a:t>
            </a:r>
            <a:r>
              <a:rPr sz="1800" b="0" i="0" dirty="0">
                <a:solidFill>
                  <a:srgbClr val="D5DBDB"/>
                </a:solidFill>
                <a:latin typeface="Arial"/>
              </a:rPr>
              <a:t>“what should we do with this item</a:t>
            </a:r>
            <a:r>
              <a:rPr lang="en-US" dirty="0">
                <a:solidFill>
                  <a:srgbClr val="D5DBDB"/>
                </a:solidFill>
                <a:latin typeface="Arial"/>
              </a:rPr>
              <a:t>?" </a:t>
            </a:r>
            <a:r>
              <a:rPr sz="1800" b="0" i="0" dirty="0">
                <a:solidFill>
                  <a:srgbClr val="D5DBDB"/>
                </a:solidFill>
                <a:latin typeface="Arial"/>
              </a:rPr>
              <a:t>happens </a:t>
            </a:r>
            <a:r>
              <a:rPr sz="1800" b="1" i="0" dirty="0">
                <a:solidFill>
                  <a:srgbClr val="FF9900"/>
                </a:solidFill>
                <a:latin typeface="Arial"/>
              </a:rPr>
              <a:t>dead last</a:t>
            </a:r>
            <a:r>
              <a:rPr sz="1800" b="0" i="0" dirty="0">
                <a:solidFill>
                  <a:srgbClr val="D5DBDB"/>
                </a:solidFill>
                <a:latin typeface="Arial"/>
              </a:rPr>
              <a:t>, after all the driving is already paid for and weeks </a:t>
            </a:r>
            <a:r>
              <a:rPr lang="en-US" dirty="0" err="1">
                <a:solidFill>
                  <a:srgbClr val="D5DBDB"/>
                </a:solidFill>
                <a:latin typeface="Arial"/>
              </a:rPr>
              <a:t>f</a:t>
            </a:r>
            <a:r>
              <a:rPr sz="1800" b="0" i="0" dirty="0">
                <a:solidFill>
                  <a:srgbClr val="D5DBDB"/>
                </a:solidFill>
                <a:latin typeface="Arial"/>
              </a:rPr>
              <a:t> value have quietly leaked away.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That long trip is expensive</a:t>
            </a:r>
            <a:r>
              <a:rPr lang="en-US" sz="3000" b="1" dirty="0">
                <a:solidFill>
                  <a:srgbClr val="FFFFFF"/>
                </a:solidFill>
                <a:latin typeface="Arial"/>
              </a:rPr>
              <a:t> </a:t>
            </a:r>
            <a:r>
              <a:rPr sz="3000" b="1" i="0">
                <a:solidFill>
                  <a:srgbClr val="FFFFFF"/>
                </a:solidFill>
                <a:latin typeface="Arial"/>
              </a:rPr>
              <a:t>and most items lose</a:t>
            </a:r>
            <a:r>
              <a:rPr lang="en-US" sz="3000" b="1">
                <a:solidFill>
                  <a:srgbClr val="FFFFFF"/>
                </a:solidFill>
                <a:latin typeface="Arial"/>
              </a:rPr>
              <a:t> value</a:t>
            </a:r>
            <a:endParaRPr sz="3000" b="1" i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D5DBDB"/>
                </a:solidFill>
                <a:latin typeface="Arial"/>
              </a:rPr>
              <a:t>Returns are enormous, and today's process wrings very little value back out of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349240" cy="13258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91440" cy="13258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9900"/>
                </a:solidFill>
                <a:latin typeface="Arial"/>
              </a:rPr>
              <a:t>1.2–1.5 billion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3580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packages returned every year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286000"/>
            <a:ext cx="5349240" cy="13258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2286000"/>
            <a:ext cx="91440" cy="13258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846320" cy="4961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3200">
                <a:solidFill>
                  <a:srgbClr val="FF9900"/>
                </a:solidFill>
                <a:ea typeface="+mn-lt"/>
                <a:cs typeface="+mn-lt"/>
              </a:rPr>
              <a:t>₹</a:t>
            </a:r>
            <a:r>
              <a:rPr lang="en-US" sz="2700" b="1">
                <a:solidFill>
                  <a:srgbClr val="FF9900"/>
                </a:solidFill>
                <a:latin typeface="Arial"/>
                <a:ea typeface="+mn-lt"/>
                <a:cs typeface="Arial"/>
              </a:rPr>
              <a:t>30,000-50,000 Crore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92240" y="303580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what returns cost the industry, yearly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94760"/>
            <a:ext cx="5349240" cy="13258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794760"/>
            <a:ext cx="91440" cy="13258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97764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9900"/>
                </a:solidFill>
                <a:latin typeface="Arial"/>
              </a:rPr>
              <a:t>only 10–20%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44568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of returns ever make it back onto a shelf to be resold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794760"/>
            <a:ext cx="5349240" cy="13258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794760"/>
            <a:ext cx="91440" cy="132588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92240" y="397764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9900"/>
                </a:solidFill>
                <a:latin typeface="Arial"/>
              </a:rPr>
              <a:t>the 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544568"/>
            <a:ext cx="4846320" cy="210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mostly sold off cheap to liquidators</a:t>
            </a:r>
            <a:r>
              <a:rPr lang="en-US" sz="1350" dirty="0">
                <a:solidFill>
                  <a:srgbClr val="D5DBDB"/>
                </a:solidFill>
                <a:latin typeface="Arial"/>
              </a:rPr>
              <a:t> </a:t>
            </a:r>
            <a:r>
              <a:rPr sz="1350" b="0" i="0">
                <a:solidFill>
                  <a:srgbClr val="D5DBDB"/>
                </a:solidFill>
                <a:latin typeface="Arial"/>
              </a:rPr>
              <a:t>or </a:t>
            </a:r>
            <a:r>
              <a:rPr lang="en-US" sz="1350">
                <a:solidFill>
                  <a:srgbClr val="D5DBDB"/>
                </a:solidFill>
                <a:latin typeface="Arial"/>
              </a:rPr>
              <a:t>are </a:t>
            </a:r>
            <a:r>
              <a:rPr sz="1350" b="0" i="0">
                <a:solidFill>
                  <a:srgbClr val="D5DBDB"/>
                </a:solidFill>
                <a:latin typeface="Arial"/>
              </a:rPr>
              <a:t>thrown 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9900"/>
                </a:solidFill>
                <a:latin typeface="Arial"/>
              </a:rPr>
              <a:t>Every wasted item is money burned twice: </a:t>
            </a:r>
            <a:r>
              <a:rPr sz="1450" b="0" i="0">
                <a:solidFill>
                  <a:srgbClr val="D5DBDB"/>
                </a:solidFill>
                <a:latin typeface="Arial"/>
              </a:rPr>
              <a:t>once on the trucking, and again on the value that could have been recovered if we'd acted sooner.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So… what if we decided at your front door instead?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D5DBDB"/>
                </a:solidFill>
                <a:latin typeface="Arial"/>
              </a:rPr>
              <a:t>The whole problem is that we decide </a:t>
            </a:r>
            <a:r>
              <a:rPr sz="1900" b="1" i="0">
                <a:solidFill>
                  <a:srgbClr val="FF9900"/>
                </a:solidFill>
                <a:latin typeface="Arial"/>
              </a:rPr>
              <a:t>after</a:t>
            </a:r>
            <a:r>
              <a:rPr sz="1900" b="0" i="0">
                <a:solidFill>
                  <a:srgbClr val="D5DBDB"/>
                </a:solidFill>
                <a:latin typeface="Arial"/>
              </a:rPr>
              <a:t> the item has travelled. ReLoop flips it: look at the item the moment it's returned, and pick its best next step </a:t>
            </a:r>
            <a:r>
              <a:rPr sz="1900" b="1" i="0">
                <a:solidFill>
                  <a:srgbClr val="FF9900"/>
                </a:solidFill>
                <a:latin typeface="Arial"/>
              </a:rPr>
              <a:t>before it moves an inch.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5349240" cy="26517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429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9BA7B0"/>
                </a:solidFill>
                <a:latin typeface="Arial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4846320" cy="1330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F26D6D"/>
                </a:solidFill>
                <a:latin typeface="Arial"/>
              </a:rPr>
              <a:t>•  </a:t>
            </a:r>
            <a:r>
              <a:rPr sz="1400" b="0" i="0">
                <a:solidFill>
                  <a:srgbClr val="D5DBDB"/>
                </a:solidFill>
                <a:latin typeface="Arial"/>
              </a:rPr>
              <a:t>Ship it far away first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F26D6D"/>
                </a:solidFill>
                <a:latin typeface="Arial"/>
              </a:rPr>
              <a:t>•  </a:t>
            </a:r>
            <a:r>
              <a:rPr sz="1400" b="0" i="0">
                <a:solidFill>
                  <a:srgbClr val="D5DBDB"/>
                </a:solidFill>
                <a:latin typeface="Arial"/>
              </a:rPr>
              <a:t>Let it sit and lose value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F26D6D"/>
                </a:solidFill>
                <a:latin typeface="Arial"/>
              </a:rPr>
              <a:t>•  </a:t>
            </a:r>
            <a:r>
              <a:rPr sz="1400" b="0" i="0">
                <a:solidFill>
                  <a:srgbClr val="D5DBDB"/>
                </a:solidFill>
                <a:latin typeface="Arial"/>
              </a:rPr>
              <a:t>Then decide what </a:t>
            </a:r>
            <a:r>
              <a:rPr lang="en-US" sz="1400">
                <a:solidFill>
                  <a:srgbClr val="D5DBDB"/>
                </a:solidFill>
                <a:latin typeface="Arial"/>
              </a:rPr>
              <a:t>is it's</a:t>
            </a:r>
            <a:r>
              <a:rPr sz="1400" b="0" i="0">
                <a:solidFill>
                  <a:srgbClr val="D5DBDB"/>
                </a:solidFill>
                <a:latin typeface="Arial"/>
              </a:rPr>
              <a:t> worth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F26D6D"/>
                </a:solidFill>
                <a:latin typeface="Arial"/>
              </a:rPr>
              <a:t>•  </a:t>
            </a:r>
            <a:r>
              <a:rPr sz="1400" b="0" i="0">
                <a:solidFill>
                  <a:srgbClr val="D5DBDB"/>
                </a:solidFill>
                <a:latin typeface="Arial"/>
              </a:rPr>
              <a:t>Usually too late to do anything clever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200400"/>
            <a:ext cx="5257800" cy="26517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63640" y="3200400"/>
            <a:ext cx="5257800" cy="10972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34290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9900"/>
                </a:solidFill>
                <a:latin typeface="Arial"/>
              </a:rPr>
              <a:t>WITH RELOOP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886200"/>
            <a:ext cx="4846320" cy="1571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 dirty="0">
                <a:solidFill>
                  <a:srgbClr val="2EC48D"/>
                </a:solidFill>
                <a:latin typeface="Arial"/>
              </a:rPr>
              <a:t>•</a:t>
            </a:r>
            <a:r>
              <a:rPr lang="en-US" sz="1400" b="1" dirty="0">
                <a:solidFill>
                  <a:srgbClr val="2EC48D"/>
                </a:solidFill>
                <a:latin typeface="Arial"/>
              </a:rPr>
              <a:t> </a:t>
            </a:r>
            <a:r>
              <a:rPr lang="en-US" sz="1400">
                <a:solidFill>
                  <a:srgbClr val="D5DBDB"/>
                </a:solidFill>
                <a:latin typeface="Arial"/>
              </a:rPr>
              <a:t>AI decides the grad</a:t>
            </a:r>
            <a:r>
              <a:rPr lang="en-US" sz="1400" dirty="0">
                <a:solidFill>
                  <a:srgbClr val="D5DBDB"/>
                </a:solidFill>
                <a:latin typeface="Arial"/>
              </a:rPr>
              <a:t>e </a:t>
            </a:r>
            <a:r>
              <a:rPr sz="1400" b="0" i="0" dirty="0">
                <a:solidFill>
                  <a:srgbClr val="D5DBDB"/>
                </a:solidFill>
                <a:latin typeface="Arial"/>
              </a:rPr>
              <a:t>at the doorstep, instantly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 dirty="0">
                <a:solidFill>
                  <a:srgbClr val="2EC48D"/>
                </a:solidFill>
                <a:latin typeface="Arial"/>
              </a:rPr>
              <a:t>•  </a:t>
            </a:r>
            <a:r>
              <a:rPr lang="en-US" sz="1400">
                <a:solidFill>
                  <a:srgbClr val="D5DBDB"/>
                </a:solidFill>
                <a:latin typeface="Arial"/>
              </a:rPr>
              <a:t>Valuable items are kept local and rerouted to nearby buyers</a:t>
            </a:r>
            <a:endParaRPr sz="1400" b="0" i="0">
              <a:solidFill>
                <a:srgbClr val="D5DBDB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2EC48D"/>
                </a:solidFill>
                <a:latin typeface="Arial"/>
              </a:rPr>
              <a:t>•  </a:t>
            </a:r>
            <a:r>
              <a:rPr sz="1400" b="0" i="0">
                <a:solidFill>
                  <a:srgbClr val="D5DBDB"/>
                </a:solidFill>
                <a:latin typeface="Arial"/>
              </a:rPr>
              <a:t>Skip the pointless long-distance trip</a:t>
            </a:r>
            <a:r>
              <a:rPr lang="en-US" sz="1400">
                <a:solidFill>
                  <a:srgbClr val="D5DBDB"/>
                </a:solidFill>
                <a:latin typeface="Arial"/>
              </a:rPr>
              <a:t> to the warehouse</a:t>
            </a:r>
            <a:endParaRPr sz="1400" b="0" i="0">
              <a:solidFill>
                <a:srgbClr val="D5DBDB"/>
              </a:solidFill>
              <a:latin typeface="Arial"/>
            </a:endParaRP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1" i="0">
                <a:solidFill>
                  <a:srgbClr val="2EC48D"/>
                </a:solidFill>
                <a:latin typeface="Arial"/>
              </a:rPr>
              <a:t>•  </a:t>
            </a:r>
            <a:r>
              <a:rPr sz="1400" b="0" i="0">
                <a:solidFill>
                  <a:srgbClr val="D5DBDB"/>
                </a:solidFill>
                <a:latin typeface="Arial"/>
              </a:rPr>
              <a:t>Only the items that truly need it travel</a:t>
            </a:r>
            <a:r>
              <a:rPr lang="en-US" sz="1400">
                <a:solidFill>
                  <a:srgbClr val="D5DBDB"/>
                </a:solidFill>
                <a:latin typeface="Arial"/>
              </a:rPr>
              <a:t>, so it is purely additive </a:t>
            </a:r>
            <a:endParaRPr sz="1400" b="0" i="0">
              <a:solidFill>
                <a:srgbClr val="D5DBDB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WHOLE THING IN THREE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Snap a photo → the AI decides → the item finds its best home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74720" cy="4023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31A22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Look at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54680"/>
            <a:ext cx="3017520" cy="6761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 dirty="0">
                <a:solidFill>
                  <a:srgbClr val="D5DBDB"/>
                </a:solidFill>
                <a:latin typeface="Arial"/>
              </a:rPr>
              <a:t>You take a few photos at the door. An AI reads the item's condition like a really fast, really consistent inspector.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83080"/>
            <a:ext cx="3474720" cy="4023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572000" y="2011680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31A22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Think it through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154680"/>
            <a:ext cx="3017520" cy="1012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i="0" dirty="0">
                <a:solidFill>
                  <a:srgbClr val="D5DBDB"/>
                </a:solidFill>
                <a:ea typeface="+mn-lt"/>
                <a:cs typeface="+mn-lt"/>
              </a:rPr>
              <a:t>A decision engine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intercepts the return </a:t>
            </a:r>
            <a:r>
              <a:rPr lang="en-US" sz="1300">
                <a:solidFill>
                  <a:srgbClr val="D5DBDB"/>
                </a:solidFill>
                <a:ea typeface="+mn-lt"/>
                <a:cs typeface="+mn-lt"/>
              </a:rPr>
              <a:t>before it moves </a:t>
            </a:r>
            <a:r>
              <a:rPr lang="en-US" sz="1300" i="0">
                <a:solidFill>
                  <a:srgbClr val="D5DBDB"/>
                </a:solidFill>
                <a:ea typeface="+mn-lt"/>
                <a:cs typeface="+mn-lt"/>
              </a:rPr>
              <a:t>and </a:t>
            </a:r>
            <a:r>
              <a:rPr lang="en-US" sz="1300">
                <a:solidFill>
                  <a:srgbClr val="D5DBDB"/>
                </a:solidFill>
                <a:ea typeface="+mn-lt"/>
                <a:cs typeface="+mn-lt"/>
              </a:rPr>
              <a:t>reroutes it to </a:t>
            </a:r>
            <a:r>
              <a:rPr lang="en-US" sz="1300" i="0">
                <a:solidFill>
                  <a:srgbClr val="D5DBDB"/>
                </a:solidFill>
                <a:ea typeface="+mn-lt"/>
                <a:cs typeface="+mn-lt"/>
              </a:rPr>
              <a:t>the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highest-value local path, instead of defaulting to a warehouse 200km away</a:t>
            </a:r>
            <a:r>
              <a:rPr lang="en-US" sz="1300" i="0" dirty="0">
                <a:solidFill>
                  <a:srgbClr val="D5DBDB"/>
                </a:solidFill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algn="l">
              <a:lnSpc>
                <a:spcPct val="115999"/>
              </a:lnSpc>
              <a:spcBef>
                <a:spcPts val="0"/>
              </a:spcBef>
              <a:spcAft>
                <a:spcPts val="400"/>
              </a:spcAft>
            </a:pPr>
            <a:endParaRPr sz="1300" b="0" i="0" dirty="0">
              <a:solidFill>
                <a:srgbClr val="D5DBDB"/>
              </a:solidFill>
              <a:latin typeface="Arial"/>
              <a:cs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46720" y="1783080"/>
            <a:ext cx="3474720" cy="4023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75320" y="2011680"/>
            <a:ext cx="548640" cy="54864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31A22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6974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Send it the right 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154680"/>
            <a:ext cx="301752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D5DBDB"/>
                </a:solidFill>
                <a:latin typeface="Arial"/>
              </a:rPr>
              <a:t>The item goes straight to its best next home. Two quick human checks along the way make sure the AI got it right.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1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STEP 1</a:t>
            </a:r>
            <a:r>
              <a:rPr lang="en-US" sz="1250" b="1">
                <a:solidFill>
                  <a:srgbClr val="FF9900"/>
                </a:solidFill>
                <a:latin typeface="Arial"/>
              </a:rPr>
              <a:t>: </a:t>
            </a:r>
            <a:r>
              <a:rPr sz="1250" b="1" i="0">
                <a:solidFill>
                  <a:srgbClr val="FF9900"/>
                </a:solidFill>
                <a:latin typeface="Arial"/>
              </a:rPr>
              <a:t>THE EYES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An AI reads the item's condition from photos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22846"/>
            <a:ext cx="5621382" cy="2293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1" i="0" dirty="0">
                <a:solidFill>
                  <a:srgbClr val="FF9900"/>
                </a:solidFill>
                <a:latin typeface="Arial"/>
              </a:rPr>
              <a:t>•  </a:t>
            </a:r>
            <a:r>
              <a:rPr sz="1450" b="1" i="0" dirty="0">
                <a:solidFill>
                  <a:srgbClr val="FFFFFF"/>
                </a:solidFill>
                <a:latin typeface="Arial"/>
              </a:rPr>
              <a:t>Trained to judge condition. </a:t>
            </a:r>
            <a:r>
              <a:rPr sz="1450" b="0" i="0" dirty="0">
                <a:solidFill>
                  <a:srgbClr val="D5DBDB"/>
                </a:solidFill>
                <a:latin typeface="Arial"/>
              </a:rPr>
              <a:t>It looks at the photos and figures out how good a shape the item is </a:t>
            </a:r>
            <a:r>
              <a:rPr sz="1450" b="0" i="0" dirty="0" err="1">
                <a:solidFill>
                  <a:srgbClr val="D5DBDB"/>
                </a:solidFill>
                <a:latin typeface="Arial"/>
              </a:rPr>
              <a:t>in</a:t>
            </a:r>
            <a:r>
              <a:rPr lang="en-US" sz="1450" dirty="0" err="1">
                <a:solidFill>
                  <a:srgbClr val="D5DBDB"/>
                </a:solidFill>
                <a:latin typeface="Arial"/>
              </a:rPr>
              <a:t>:</a:t>
            </a:r>
            <a:r>
              <a:rPr sz="1450" b="0" i="0" dirty="0">
                <a:solidFill>
                  <a:srgbClr val="D5DBDB"/>
                </a:solidFill>
                <a:latin typeface="Arial"/>
              </a:rPr>
              <a:t> brand-new, lightly used, worn, or beyond saving.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 dirty="0">
                <a:solidFill>
                  <a:srgbClr val="FF9900"/>
                </a:solidFill>
                <a:latin typeface="Arial"/>
              </a:rPr>
              <a:t>•  </a:t>
            </a:r>
            <a:r>
              <a:rPr sz="1450" b="1" i="0" dirty="0">
                <a:solidFill>
                  <a:srgbClr val="FFFFFF"/>
                </a:solidFill>
                <a:latin typeface="Arial"/>
              </a:rPr>
              <a:t>It spots the details.</a:t>
            </a:r>
            <a:r>
              <a:rPr lang="en-US" sz="1450" b="1" dirty="0">
                <a:solidFill>
                  <a:srgbClr val="FFFFFF"/>
                </a:solidFill>
                <a:latin typeface="Arial"/>
              </a:rPr>
              <a:t> </a:t>
            </a:r>
            <a:r>
              <a:rPr sz="1450" b="0" i="0" dirty="0">
                <a:solidFill>
                  <a:srgbClr val="D5DBDB"/>
                </a:solidFill>
                <a:latin typeface="Arial"/>
              </a:rPr>
              <a:t>Scratched screen? Torn box? It </a:t>
            </a:r>
            <a:r>
              <a:rPr sz="1450" b="0" i="0" dirty="0" err="1">
                <a:solidFill>
                  <a:srgbClr val="D5DBDB"/>
                </a:solidFill>
                <a:latin typeface="Arial"/>
              </a:rPr>
              <a:t>notices, and</a:t>
            </a:r>
            <a:r>
              <a:rPr sz="1450" b="0" i="0" dirty="0">
                <a:solidFill>
                  <a:srgbClr val="D5DBDB"/>
                </a:solidFill>
                <a:latin typeface="Arial"/>
              </a:rPr>
              <a:t> lists them</a:t>
            </a:r>
            <a:r>
              <a:rPr lang="en-US" sz="1450" dirty="0">
                <a:solidFill>
                  <a:srgbClr val="D5DBDB"/>
                </a:solidFill>
                <a:latin typeface="Arial"/>
              </a:rPr>
              <a:t> into the product card.</a:t>
            </a:r>
            <a:endParaRPr sz="1450" b="0" i="0" dirty="0">
              <a:solidFill>
                <a:srgbClr val="D5DBDB"/>
              </a:solidFill>
              <a:latin typeface="Arial"/>
              <a:cs typeface="Arial"/>
            </a:endParaRP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 dirty="0">
                <a:solidFill>
                  <a:srgbClr val="FF9900"/>
                </a:solidFill>
                <a:latin typeface="Arial"/>
              </a:rPr>
              <a:t>•  </a:t>
            </a:r>
            <a:r>
              <a:rPr sz="1450" b="1" i="0" dirty="0">
                <a:solidFill>
                  <a:srgbClr val="FFFFFF"/>
                </a:solidFill>
                <a:latin typeface="Arial"/>
              </a:rPr>
              <a:t>And here's the important part</a:t>
            </a:r>
            <a:r>
              <a:rPr lang="en-US" sz="1450" b="1" dirty="0">
                <a:solidFill>
                  <a:srgbClr val="FFFFFF"/>
                </a:solidFill>
                <a:latin typeface="Arial"/>
              </a:rPr>
              <a:t>: I</a:t>
            </a:r>
            <a:r>
              <a:rPr lang="en-US" sz="1450" dirty="0">
                <a:solidFill>
                  <a:srgbClr val="D5DBDB"/>
                </a:solidFill>
                <a:latin typeface="Arial"/>
              </a:rPr>
              <a:t>t's</a:t>
            </a:r>
            <a:r>
              <a:rPr sz="1450" b="0" i="0" dirty="0">
                <a:solidFill>
                  <a:srgbClr val="D5DBDB"/>
                </a:solidFill>
                <a:latin typeface="Arial"/>
              </a:rPr>
              <a:t> honest about how sure it is. </a:t>
            </a:r>
            <a:r>
              <a:rPr lang="en-US" sz="1450" b="0" i="0" dirty="0">
                <a:solidFill>
                  <a:srgbClr val="D5DBDB"/>
                </a:solidFill>
                <a:ea typeface="+mn-lt"/>
                <a:cs typeface="+mn-lt"/>
              </a:rPr>
              <a:t>Instead of </a:t>
            </a:r>
            <a:r>
              <a:rPr lang="en-US" sz="1450" dirty="0">
                <a:solidFill>
                  <a:srgbClr val="D5DBDB"/>
                </a:solidFill>
                <a:ea typeface="+mn-lt"/>
                <a:cs typeface="+mn-lt"/>
              </a:rPr>
              <a:t>forcing a single answer</a:t>
            </a:r>
            <a:r>
              <a:rPr lang="en-US" sz="1450" b="0" i="0" dirty="0">
                <a:solidFill>
                  <a:srgbClr val="D5DBDB"/>
                </a:solidFill>
                <a:ea typeface="+mn-lt"/>
                <a:cs typeface="+mn-lt"/>
              </a:rPr>
              <a:t>, it </a:t>
            </a:r>
            <a:r>
              <a:rPr lang="en-US" sz="1450" dirty="0">
                <a:solidFill>
                  <a:srgbClr val="D5DBDB"/>
                </a:solidFill>
                <a:ea typeface="+mn-lt"/>
                <a:cs typeface="+mn-lt"/>
              </a:rPr>
              <a:t>outputs a confidence </a:t>
            </a:r>
            <a:r>
              <a:rPr lang="en-US" sz="1450" dirty="0" err="1">
                <a:solidFill>
                  <a:srgbClr val="D5DBDB"/>
                </a:solidFill>
                <a:ea typeface="+mn-lt"/>
                <a:cs typeface="+mn-lt"/>
              </a:rPr>
              <a:t>score</a:t>
            </a:r>
            <a:r>
              <a:rPr lang="en-US" sz="1450" dirty="0">
                <a:solidFill>
                  <a:srgbClr val="D5DBDB"/>
                </a:solidFill>
                <a:ea typeface="+mn-lt"/>
                <a:cs typeface="+mn-lt"/>
              </a:rPr>
              <a:t> so the system knows when to trust the grade and when to flag it for a closer look.</a:t>
            </a:r>
            <a:endParaRPr lang="en-US" sz="1450" b="0" i="0" dirty="0">
              <a:solidFill>
                <a:srgbClr val="D5DBDB"/>
              </a:solidFill>
              <a:ea typeface="+mn-lt"/>
              <a:cs typeface="+mn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46520" y="1737360"/>
            <a:ext cx="5074920" cy="4023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0840" y="19659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9900"/>
                </a:solidFill>
                <a:latin typeface="Arial"/>
              </a:rPr>
              <a:t>Why “how sure”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468880"/>
            <a:ext cx="4572000" cy="974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A confident wrong guess is dangerous</a:t>
            </a:r>
            <a:r>
              <a:rPr lang="en-US" sz="1350">
                <a:solidFill>
                  <a:srgbClr val="D5DBDB"/>
                </a:solidFill>
                <a:latin typeface="Arial"/>
              </a:rPr>
              <a:t>,</a:t>
            </a:r>
            <a:r>
              <a:rPr sz="1350" b="0" i="0">
                <a:solidFill>
                  <a:srgbClr val="D5DBDB"/>
                </a:solidFill>
                <a:latin typeface="Arial"/>
              </a:rPr>
              <a:t> imagine selling a </a:t>
            </a:r>
            <a:r>
              <a:rPr sz="1350" b="0" i="0" dirty="0">
                <a:solidFill>
                  <a:srgbClr val="D5DBDB"/>
                </a:solidFill>
                <a:latin typeface="Arial"/>
              </a:rPr>
              <a:t>scratched phone to someone as “like new.” </a:t>
            </a:r>
            <a:r>
              <a:rPr sz="1350" b="1" i="0" dirty="0">
                <a:solidFill>
                  <a:srgbClr val="FFFFFF"/>
                </a:solidFill>
                <a:latin typeface="Arial"/>
              </a:rPr>
              <a:t>By keeping track of its own doubt, the engine can play it safe when the photos aren't clear.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3977639"/>
            <a:ext cx="4526280" cy="1600200"/>
          </a:xfrm>
          <a:prstGeom prst="roundRect">
            <a:avLst>
              <a:gd name="adj" fmla="val 6000"/>
            </a:avLst>
          </a:prstGeom>
          <a:solidFill>
            <a:srgbClr val="0C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416052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BA7B0"/>
                </a:solidFill>
                <a:latin typeface="Consolas"/>
              </a:rPr>
              <a:t>what the AI hands over: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452628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CFE8D6"/>
                </a:solidFill>
                <a:latin typeface="Consolas"/>
              </a:rPr>
              <a:t>“70% like-new, 20% lightly used,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CFE8D6"/>
                </a:solidFill>
                <a:latin typeface="Consolas"/>
              </a:rPr>
              <a:t> 10% worn — fairly confident.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i="0">
                <a:solidFill>
                  <a:srgbClr val="5DC8E8"/>
                </a:solidFill>
                <a:latin typeface="Consolas"/>
              </a:rPr>
              <a:t> Note: box looks a bit scuffed.”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STEP 2 — THE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384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ea typeface="+mn-lt"/>
                <a:cs typeface="+mn-lt"/>
              </a:rPr>
              <a:t>What's the best thing to do with this item, right now?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3000" b="1" dirty="0">
              <a:solidFill>
                <a:srgbClr val="FFFFFF"/>
              </a:solidFill>
              <a:ea typeface="Calibri"/>
              <a:cs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 sz="3000" b="1" i="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5451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lang="en-US" sz="1550" b="0" i="0" dirty="0">
                <a:solidFill>
                  <a:srgbClr val="D5DBDB"/>
                </a:solidFill>
                <a:ea typeface="+mn-lt"/>
                <a:cs typeface="+mn-lt"/>
              </a:rPr>
              <a:t>For </a:t>
            </a:r>
            <a:r>
              <a:rPr lang="en-US" sz="1550" dirty="0">
                <a:solidFill>
                  <a:srgbClr val="D5DBDB"/>
                </a:solidFill>
                <a:ea typeface="+mn-lt"/>
                <a:cs typeface="+mn-lt"/>
              </a:rPr>
              <a:t>every </a:t>
            </a:r>
            <a:r>
              <a:rPr lang="en-US" sz="1550" b="0" i="0" dirty="0">
                <a:solidFill>
                  <a:srgbClr val="D5DBDB"/>
                </a:solidFill>
                <a:ea typeface="+mn-lt"/>
                <a:cs typeface="+mn-lt"/>
              </a:rPr>
              <a:t>item</a:t>
            </a:r>
            <a:r>
              <a:rPr lang="en-US" sz="1550" dirty="0">
                <a:solidFill>
                  <a:srgbClr val="D5DBDB"/>
                </a:solidFill>
                <a:ea typeface="+mn-lt"/>
                <a:cs typeface="+mn-lt"/>
              </a:rPr>
              <a:t>, it weighs up the full picture and not just what it's worth, but what it costs to get</a:t>
            </a:r>
            <a:r>
              <a:rPr lang="en-US" sz="1550" b="0" i="0" dirty="0">
                <a:solidFill>
                  <a:srgbClr val="D5DBDB"/>
                </a:solidFill>
                <a:ea typeface="+mn-lt"/>
                <a:cs typeface="+mn-lt"/>
              </a:rPr>
              <a:t> it </a:t>
            </a:r>
            <a:r>
              <a:rPr lang="en-US" sz="1550" dirty="0">
                <a:solidFill>
                  <a:srgbClr val="D5DBDB"/>
                </a:solidFill>
                <a:ea typeface="+mn-lt"/>
                <a:cs typeface="+mn-lt"/>
              </a:rPr>
              <a:t>there, who </a:t>
            </a:r>
            <a:r>
              <a:rPr lang="en-US" sz="1550" i="0" dirty="0">
                <a:solidFill>
                  <a:srgbClr val="D5DBDB"/>
                </a:solidFill>
                <a:ea typeface="+mn-lt"/>
                <a:cs typeface="+mn-lt"/>
              </a:rPr>
              <a:t>actually </a:t>
            </a:r>
            <a:r>
              <a:rPr lang="en-US" sz="1550" dirty="0">
                <a:solidFill>
                  <a:srgbClr val="D5DBDB"/>
                </a:solidFill>
                <a:ea typeface="+mn-lt"/>
                <a:cs typeface="+mn-lt"/>
              </a:rPr>
              <a:t>wants it nearby</a:t>
            </a:r>
            <a:r>
              <a:rPr lang="en-US" sz="1550" i="0" dirty="0">
                <a:solidFill>
                  <a:srgbClr val="D5DBDB"/>
                </a:solidFill>
                <a:ea typeface="+mn-lt"/>
                <a:cs typeface="+mn-lt"/>
              </a:rPr>
              <a:t>, </a:t>
            </a:r>
            <a:r>
              <a:rPr lang="en-US" sz="1550" dirty="0">
                <a:solidFill>
                  <a:srgbClr val="D5DBDB"/>
                </a:solidFill>
                <a:ea typeface="+mn-lt"/>
                <a:cs typeface="+mn-lt"/>
              </a:rPr>
              <a:t>and how fast </a:t>
            </a:r>
            <a:r>
              <a:rPr lang="en-US" sz="1550" i="0" dirty="0">
                <a:solidFill>
                  <a:srgbClr val="D5DBDB"/>
                </a:solidFill>
                <a:ea typeface="+mn-lt"/>
                <a:cs typeface="+mn-lt"/>
              </a:rPr>
              <a:t>the </a:t>
            </a:r>
            <a:r>
              <a:rPr lang="en-US" sz="1550" dirty="0">
                <a:solidFill>
                  <a:srgbClr val="D5DBDB"/>
                </a:solidFill>
                <a:ea typeface="+mn-lt"/>
                <a:cs typeface="+mn-lt"/>
              </a:rPr>
              <a:t>clock is ticking and </a:t>
            </a:r>
            <a:r>
              <a:rPr lang="en-US" sz="1550" b="0" i="0" dirty="0">
                <a:solidFill>
                  <a:srgbClr val="D5DBDB"/>
                </a:solidFill>
                <a:ea typeface="+mn-lt"/>
                <a:cs typeface="+mn-lt"/>
              </a:rPr>
              <a:t>then picks the </a:t>
            </a:r>
            <a:r>
              <a:rPr lang="en-US" sz="1550" dirty="0">
                <a:solidFill>
                  <a:srgbClr val="D5DBDB"/>
                </a:solidFill>
                <a:ea typeface="+mn-lt"/>
                <a:cs typeface="+mn-lt"/>
              </a:rPr>
              <a:t>best path</a:t>
            </a:r>
            <a:r>
              <a:rPr lang="en-US" sz="1550" b="0" i="0" dirty="0">
                <a:solidFill>
                  <a:srgbClr val="D5DBDB"/>
                </a:solidFill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514600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66090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9900"/>
                </a:solidFill>
                <a:latin typeface="Arial"/>
              </a:rPr>
              <a:t>What it's worth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1752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the resale value for the condition it's 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514600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66090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9900"/>
                </a:solidFill>
                <a:latin typeface="Arial"/>
              </a:rPr>
              <a:t>The costs to get there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017520"/>
            <a:ext cx="3108960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trucking, handling, repairs</a:t>
            </a:r>
            <a:r>
              <a:rPr lang="en-US" sz="1150" dirty="0">
                <a:solidFill>
                  <a:srgbClr val="D5DBDB"/>
                </a:solidFill>
                <a:latin typeface="Arial"/>
              </a:rPr>
              <a:t> </a:t>
            </a:r>
            <a:r>
              <a:rPr sz="1150" b="0" i="0">
                <a:solidFill>
                  <a:srgbClr val="D5DBDB"/>
                </a:solidFill>
                <a:latin typeface="Arial"/>
              </a:rPr>
              <a:t>subtracted </a:t>
            </a:r>
            <a:r>
              <a:rPr sz="1150" b="0" i="0" dirty="0">
                <a:solidFill>
                  <a:srgbClr val="D5DBDB"/>
                </a:solidFill>
                <a:latin typeface="Arial"/>
              </a:rPr>
              <a:t>honestly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514600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19" y="266090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9900"/>
                </a:solidFill>
                <a:latin typeface="Arial"/>
              </a:rPr>
              <a:t>Who wants it nearby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3017520"/>
            <a:ext cx="3108960" cy="378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150">
                <a:solidFill>
                  <a:srgbClr val="D5DBDB"/>
                </a:solidFill>
                <a:ea typeface="+mn-lt"/>
                <a:cs typeface="+mn-lt"/>
              </a:rPr>
              <a:t>how many local buyers are looking for this right now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895343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9900"/>
                </a:solidFill>
                <a:latin typeface="Arial"/>
              </a:rPr>
              <a:t>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251959"/>
            <a:ext cx="3108960" cy="374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things lose value while they sit </a:t>
            </a:r>
            <a:r>
              <a:rPr lang="en-US" sz="1150">
                <a:solidFill>
                  <a:srgbClr val="D5DBDB"/>
                </a:solidFill>
                <a:latin typeface="Arial"/>
              </a:rPr>
              <a:t>and </a:t>
            </a:r>
            <a:r>
              <a:rPr sz="1150" b="0" i="0">
                <a:solidFill>
                  <a:srgbClr val="D5DBDB"/>
                </a:solidFill>
                <a:latin typeface="Arial"/>
              </a:rPr>
              <a:t> that counts as </a:t>
            </a:r>
            <a:r>
              <a:rPr sz="1150" b="0" i="0" dirty="0">
                <a:solidFill>
                  <a:srgbClr val="D5DBDB"/>
                </a:solidFill>
                <a:latin typeface="Arial"/>
              </a:rPr>
              <a:t>a cost too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749039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0" y="3895343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9900"/>
                </a:solidFill>
                <a:latin typeface="Arial"/>
              </a:rPr>
              <a:t>The planet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251959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D5DBDB"/>
                </a:solidFill>
                <a:latin typeface="Arial"/>
              </a:rPr>
              <a:t>carbon saved by not trucking it far is worth money here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3749039"/>
            <a:ext cx="347472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19" y="3895343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9900"/>
                </a:solidFill>
                <a:latin typeface="Arial"/>
              </a:rPr>
              <a:t>Cost of a mistake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4251959"/>
            <a:ext cx="3108960" cy="184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lang="en-US" sz="1150">
                <a:solidFill>
                  <a:srgbClr val="D5DBDB"/>
                </a:solidFill>
                <a:ea typeface="+mn-lt"/>
                <a:cs typeface="+mn-lt"/>
              </a:rPr>
              <a:t>the penalty if </a:t>
            </a:r>
            <a:r>
              <a:rPr lang="en-US" sz="1150" b="0" i="0">
                <a:solidFill>
                  <a:srgbClr val="D5DBDB"/>
                </a:solidFill>
                <a:ea typeface="+mn-lt"/>
                <a:cs typeface="+mn-lt"/>
              </a:rPr>
              <a:t>this </a:t>
            </a:r>
            <a:r>
              <a:rPr lang="en-US" sz="1150">
                <a:solidFill>
                  <a:srgbClr val="D5DBDB"/>
                </a:solidFill>
                <a:ea typeface="+mn-lt"/>
                <a:cs typeface="+mn-lt"/>
              </a:rPr>
              <a:t>route fails and needs correcting</a:t>
            </a:r>
            <a:endParaRPr lang="en-US"/>
          </a:p>
        </p:txBody>
      </p:sp>
      <p:sp>
        <p:nvSpPr>
          <p:cNvPr id="24" name="Rounded Rectangle 23"/>
          <p:cNvSpPr/>
          <p:nvPr/>
        </p:nvSpPr>
        <p:spPr>
          <a:xfrm>
            <a:off x="640080" y="516636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 w="1587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332720" cy="500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500" b="1" i="0" dirty="0">
                <a:solidFill>
                  <a:srgbClr val="FF9900"/>
                </a:solidFill>
                <a:latin typeface="Arial"/>
              </a:rPr>
              <a:t>No black box. </a:t>
            </a:r>
            <a:r>
              <a:rPr sz="1450" b="0" i="0">
                <a:solidFill>
                  <a:srgbClr val="D5DBDB"/>
                </a:solidFill>
                <a:latin typeface="Arial"/>
              </a:rPr>
              <a:t>It's plain arithmetic and clear rules </a:t>
            </a:r>
            <a:r>
              <a:rPr lang="en-US" sz="1450">
                <a:solidFill>
                  <a:srgbClr val="D5DBDB"/>
                </a:solidFill>
                <a:latin typeface="Arial"/>
              </a:rPr>
              <a:t>and </a:t>
            </a:r>
            <a:r>
              <a:rPr sz="1450" b="0" i="0">
                <a:solidFill>
                  <a:srgbClr val="D5DBDB"/>
                </a:solidFill>
                <a:latin typeface="Arial"/>
              </a:rPr>
              <a:t>you can read exactly why it chose what it chose. The AI only writes the </a:t>
            </a:r>
            <a:r>
              <a:rPr sz="1450" b="0" i="0" dirty="0">
                <a:solidFill>
                  <a:srgbClr val="D5DBDB"/>
                </a:solidFill>
                <a:latin typeface="Arial"/>
              </a:rPr>
              <a:t>one-line explanation; the </a:t>
            </a:r>
            <a:r>
              <a:rPr sz="1450" b="1" i="0" dirty="0">
                <a:solidFill>
                  <a:srgbClr val="FFFFFF"/>
                </a:solidFill>
                <a:latin typeface="Arial"/>
              </a:rPr>
              <a:t>rules do the deciding.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73952"/>
            <a:ext cx="822960" cy="1352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900">
                <a:solidFill>
                  <a:srgbClr val="9BA7B0"/>
                </a:solidFill>
                <a:latin typeface="Arial"/>
              </a:rPr>
              <a:t>0</a:t>
            </a:r>
            <a:endParaRPr sz="900" b="0" i="0">
              <a:solidFill>
                <a:srgbClr val="9BA7B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SEE IT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A real example: a returned wireless speaker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823" y="1298303"/>
            <a:ext cx="5632995" cy="1012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>
                <a:solidFill>
                  <a:srgbClr val="D5DBDB"/>
                </a:solidFill>
                <a:ea typeface="+mn-lt"/>
                <a:cs typeface="+mn-lt"/>
              </a:rPr>
              <a:t>Priya ordered a JBL Flip 6 for ₹6,499. It arrived fine but she just didn't like the sound.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Box unopened, return initiated.</a:t>
            </a:r>
            <a:endParaRPr lang="en-US" dirty="0"/>
          </a:p>
          <a:p>
            <a:r>
              <a:rPr lang="en-US" sz="1300" dirty="0" err="1">
                <a:solidFill>
                  <a:srgbClr val="D5DBDB"/>
                </a:solidFill>
                <a:ea typeface="+mn-lt"/>
                <a:cs typeface="+mn-lt"/>
              </a:rPr>
              <a:t>ReLoop's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 AI grades it in 3 seconds: </a:t>
            </a:r>
            <a:r>
              <a:rPr lang="en-US" sz="1300" b="1" dirty="0">
                <a:solidFill>
                  <a:srgbClr val="D5DBDB"/>
                </a:solidFill>
                <a:ea typeface="+mn-lt"/>
                <a:cs typeface="+mn-lt"/>
              </a:rPr>
              <a:t>Grade A</a:t>
            </a:r>
            <a:r>
              <a:rPr lang="en-US" sz="1300" b="1" i="0" dirty="0">
                <a:solidFill>
                  <a:srgbClr val="D5DBDB"/>
                </a:solidFill>
                <a:ea typeface="+mn-lt"/>
                <a:cs typeface="+mn-lt"/>
              </a:rPr>
              <a:t>, </a:t>
            </a:r>
            <a:r>
              <a:rPr lang="en-US" sz="1300" b="1" dirty="0">
                <a:solidFill>
                  <a:srgbClr val="D5DBDB"/>
                </a:solidFill>
                <a:ea typeface="+mn-lt"/>
                <a:cs typeface="+mn-lt"/>
              </a:rPr>
              <a:t>confidence 0.91.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 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The engine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then runs 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every option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simultaneously</a:t>
            </a:r>
            <a:endParaRPr lang="en-US" sz="1300" dirty="0">
              <a:solidFill>
                <a:srgbClr val="D5DBDB"/>
              </a:solidFill>
              <a:ea typeface="Calibri"/>
              <a:cs typeface="Calibri"/>
            </a:endParaRPr>
          </a:p>
          <a:p>
            <a:pPr algn="l">
              <a:lnSpc>
                <a:spcPct val="115999"/>
              </a:lnSpc>
              <a:spcBef>
                <a:spcPts val="0"/>
              </a:spcBef>
              <a:spcAft>
                <a:spcPts val="400"/>
              </a:spcAft>
            </a:pPr>
            <a:endParaRPr sz="1300" b="0" i="0" dirty="0">
              <a:solidFill>
                <a:srgbClr val="D5DBDB"/>
              </a:solidFill>
              <a:latin typeface="Arial"/>
              <a:cs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5669280" cy="3383280"/>
          </a:xfrm>
          <a:prstGeom prst="roundRect">
            <a:avLst>
              <a:gd name="adj" fmla="val 6000"/>
            </a:avLst>
          </a:prstGeom>
          <a:solidFill>
            <a:srgbClr val="0C1218"/>
          </a:solidFill>
          <a:ln w="12700">
            <a:solidFill>
              <a:srgbClr val="374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2" y="2578608"/>
            <a:ext cx="100584" cy="100584"/>
          </a:xfrm>
          <a:prstGeom prst="ellipse">
            <a:avLst/>
          </a:prstGeom>
          <a:solidFill>
            <a:srgbClr val="F26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2578608"/>
            <a:ext cx="100584" cy="100584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07008" y="2578608"/>
            <a:ext cx="100584" cy="100584"/>
          </a:xfrm>
          <a:prstGeom prst="ellipse">
            <a:avLst/>
          </a:prstGeom>
          <a:solidFill>
            <a:srgbClr val="2EC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2560320"/>
            <a:ext cx="4572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9BA7B0"/>
                </a:solidFill>
                <a:latin typeface="Consolas"/>
              </a:rPr>
              <a:t>the engine's math, in rupees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852928"/>
            <a:ext cx="5266944" cy="20696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 dirty="0">
                <a:solidFill>
                  <a:srgbClr val="FF9900"/>
                </a:solidFill>
                <a:latin typeface="Consolas"/>
              </a:rPr>
              <a:t>Best option </a:t>
            </a:r>
            <a:r>
              <a:rPr sz="1250" b="0" dirty="0" err="1">
                <a:solidFill>
                  <a:srgbClr val="FF9900"/>
                </a:solidFill>
                <a:latin typeface="Consolas"/>
              </a:rPr>
              <a:t>chosen:</a:t>
            </a:r>
            <a:r>
              <a:rPr sz="1250" b="0" dirty="0">
                <a:solidFill>
                  <a:srgbClr val="FF9900"/>
                </a:solidFill>
                <a:latin typeface="Consolas"/>
              </a:rPr>
              <a:t>  put it back on sale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endParaRPr sz="1250" b="0">
              <a:solidFill>
                <a:srgbClr val="FF9900"/>
              </a:solidFill>
              <a:latin typeface="Consolas"/>
            </a:endParaRPr>
          </a:p>
          <a:p>
            <a:pPr>
              <a:lnSpc>
                <a:spcPct val="102000"/>
              </a:lnSpc>
              <a:spcAft>
                <a:spcPts val="100"/>
              </a:spcAft>
            </a:pPr>
            <a:r>
              <a:rPr lang="en-US" sz="1250">
                <a:solidFill>
                  <a:srgbClr val="2EC48D"/>
                </a:solidFill>
                <a:latin typeface="Consolas"/>
              </a:rPr>
              <a:t>Resell Nearby </a:t>
            </a:r>
            <a:r>
              <a:rPr sz="1250" b="0">
                <a:solidFill>
                  <a:srgbClr val="2EC48D"/>
                </a:solidFill>
                <a:latin typeface="Consolas"/>
              </a:rPr>
              <a:t>+₹</a:t>
            </a:r>
            <a:r>
              <a:rPr lang="en-US" sz="1250">
                <a:solidFill>
                  <a:srgbClr val="2EC48D"/>
                </a:solidFill>
                <a:latin typeface="Consolas"/>
              </a:rPr>
              <a:t>5,720   </a:t>
            </a:r>
            <a:r>
              <a:rPr sz="1250" b="0">
                <a:solidFill>
                  <a:srgbClr val="2EC48D"/>
                </a:solidFill>
                <a:latin typeface="Consolas"/>
              </a:rPr>
              <a:t>← winner</a:t>
            </a:r>
          </a:p>
          <a:p>
            <a:pPr>
              <a:lnSpc>
                <a:spcPct val="102000"/>
              </a:lnSpc>
              <a:spcAft>
                <a:spcPts val="100"/>
              </a:spcAft>
            </a:pPr>
            <a:r>
              <a:rPr lang="en-US" sz="1250">
                <a:solidFill>
                  <a:srgbClr val="CFE8D6"/>
                </a:solidFill>
                <a:latin typeface="Consolas"/>
              </a:rPr>
              <a:t>Back on the shelf </a:t>
            </a:r>
            <a:r>
              <a:rPr sz="1250" b="0">
                <a:solidFill>
                  <a:srgbClr val="CFE8D6"/>
                </a:solidFill>
                <a:latin typeface="Consolas"/>
              </a:rPr>
              <a:t>+₹</a:t>
            </a:r>
            <a:r>
              <a:rPr lang="en-US" sz="1250">
                <a:solidFill>
                  <a:srgbClr val="CFE8D6"/>
                </a:solidFill>
                <a:latin typeface="Consolas"/>
              </a:rPr>
              <a:t>5,850</a:t>
            </a:r>
            <a:endParaRPr sz="1250" b="0">
              <a:solidFill>
                <a:srgbClr val="CFE8D6"/>
              </a:solidFill>
              <a:latin typeface="Consolas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CFE8D6"/>
                </a:solidFill>
                <a:latin typeface="Consolas"/>
              </a:rPr>
              <a:t>Repair &amp; resell       +₹</a:t>
            </a:r>
            <a:r>
              <a:rPr lang="en-US" sz="1250">
                <a:solidFill>
                  <a:srgbClr val="CFE8D6"/>
                </a:solidFill>
                <a:latin typeface="Consolas"/>
              </a:rPr>
              <a:t>4,100</a:t>
            </a:r>
            <a:endParaRPr sz="1250" b="0">
              <a:solidFill>
                <a:srgbClr val="CFE8D6"/>
              </a:solidFill>
              <a:latin typeface="Consolas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CFE8D6"/>
                </a:solidFill>
                <a:latin typeface="Consolas"/>
              </a:rPr>
              <a:t>Sell in a graded lot    +₹</a:t>
            </a:r>
            <a:r>
              <a:rPr lang="en-US" sz="1250">
                <a:solidFill>
                  <a:srgbClr val="CFE8D6"/>
                </a:solidFill>
                <a:latin typeface="Consolas"/>
              </a:rPr>
              <a:t>2,300</a:t>
            </a:r>
            <a:endParaRPr sz="1250" b="0">
              <a:solidFill>
                <a:srgbClr val="CFE8D6"/>
              </a:solidFill>
              <a:latin typeface="Consolas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CFE8D6"/>
                </a:solidFill>
                <a:latin typeface="Consolas"/>
              </a:rPr>
              <a:t>Donate                  +₹182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endParaRPr sz="1250" b="0">
              <a:solidFill>
                <a:srgbClr val="CFE8D6"/>
              </a:solidFill>
              <a:latin typeface="Consolas"/>
            </a:endParaRP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F26D6D"/>
                </a:solidFill>
                <a:latin typeface="Consolas"/>
              </a:rPr>
              <a:t>Ship it far away        −₹465   ← today's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F26D6D"/>
                </a:solidFill>
                <a:latin typeface="Consolas"/>
              </a:rPr>
              <a:t>                                  default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21846" y="2454366"/>
            <a:ext cx="4983480" cy="15544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8674" y="2680789"/>
            <a:ext cx="4572000" cy="2156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1400" b="1">
                <a:solidFill>
                  <a:srgbClr val="FF9900"/>
                </a:solidFill>
                <a:latin typeface="Arial"/>
              </a:rPr>
              <a:t>Default Idea</a:t>
            </a:r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650446" y="3048726"/>
            <a:ext cx="4572000" cy="7135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8000"/>
              </a:lnSpc>
              <a:spcAft>
                <a:spcPts val="400"/>
              </a:spcAft>
            </a:pPr>
            <a:r>
              <a:rPr sz="1350" b="0" i="0" dirty="0">
                <a:solidFill>
                  <a:srgbClr val="D5DBDB"/>
                </a:solidFill>
                <a:latin typeface="Arial"/>
              </a:rPr>
              <a:t>Today's default</a:t>
            </a:r>
            <a:r>
              <a:rPr lang="en-US" sz="1350" dirty="0">
                <a:solidFill>
                  <a:srgbClr val="D5DBDB"/>
                </a:solidFill>
                <a:latin typeface="Arial"/>
              </a:rPr>
              <a:t> is</a:t>
            </a:r>
            <a:r>
              <a:rPr sz="1350" b="0" i="0" dirty="0">
                <a:solidFill>
                  <a:srgbClr val="D5DBDB"/>
                </a:solidFill>
                <a:latin typeface="Arial"/>
              </a:rPr>
              <a:t> shipping it far </a:t>
            </a:r>
            <a:r>
              <a:rPr lang="en-US" sz="1350">
                <a:solidFill>
                  <a:srgbClr val="D5DBDB"/>
                </a:solidFill>
                <a:latin typeface="Arial"/>
              </a:rPr>
              <a:t>away</a:t>
            </a:r>
            <a:r>
              <a:rPr lang="en-US" sz="1350" b="0" i="0">
                <a:solidFill>
                  <a:srgbClr val="D5DBDB"/>
                </a:solidFill>
                <a:latin typeface="Arial"/>
              </a:rPr>
              <a:t> </a:t>
            </a:r>
            <a:r>
              <a:rPr lang="en-US" sz="1350">
                <a:solidFill>
                  <a:srgbClr val="D5DBDB"/>
                </a:solidFill>
                <a:latin typeface="Arial"/>
              </a:rPr>
              <a:t>and it</a:t>
            </a:r>
            <a:r>
              <a:rPr lang="en-US" sz="1350" dirty="0">
                <a:solidFill>
                  <a:srgbClr val="D5DBDB"/>
                </a:solidFill>
                <a:latin typeface="Arial"/>
              </a:rPr>
              <a:t> </a:t>
            </a:r>
            <a:r>
              <a:rPr sz="1350" b="0" i="0" dirty="0">
                <a:solidFill>
                  <a:srgbClr val="D5DBDB"/>
                </a:solidFill>
                <a:latin typeface="Arial"/>
              </a:rPr>
              <a:t>is the </a:t>
            </a:r>
            <a:r>
              <a:rPr sz="1350" b="1" i="0" dirty="0">
                <a:solidFill>
                  <a:srgbClr val="FFFFFF"/>
                </a:solidFill>
                <a:latin typeface="Arial"/>
              </a:rPr>
              <a:t>worst</a:t>
            </a:r>
            <a:r>
              <a:rPr sz="1350" b="0" i="0" dirty="0">
                <a:solidFill>
                  <a:srgbClr val="D5DBDB"/>
                </a:solidFill>
                <a:latin typeface="Arial"/>
              </a:rPr>
              <a:t> option here (it loses money). Every smarter choice is money we get to keep.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OBVIOUS WORRY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“But what if the AI gets it wrong?”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233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550" b="0" i="0">
                <a:solidFill>
                  <a:srgbClr val="D5DBDB"/>
                </a:solidFill>
                <a:latin typeface="Arial"/>
              </a:rPr>
              <a:t>Fair question. Three things make a wrong call cheap and rare </a:t>
            </a:r>
            <a:r>
              <a:rPr lang="en-US" sz="1550">
                <a:solidFill>
                  <a:srgbClr val="D5DBDB"/>
                </a:solidFill>
                <a:latin typeface="Arial"/>
              </a:rPr>
              <a:t>and </a:t>
            </a:r>
            <a:r>
              <a:rPr sz="1550" b="0" i="0">
                <a:solidFill>
                  <a:srgbClr val="D5DBDB"/>
                </a:solidFill>
                <a:latin typeface="Arial"/>
              </a:rPr>
              <a:t>not a disaster.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2578608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31A22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3230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9900"/>
                </a:solidFill>
                <a:latin typeface="Arial"/>
              </a:rPr>
              <a:t>When unsure, it plays safe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816352"/>
            <a:ext cx="9692640" cy="436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 dirty="0">
                <a:solidFill>
                  <a:srgbClr val="D5DBDB"/>
                </a:solidFill>
                <a:latin typeface="Arial"/>
              </a:rPr>
              <a:t>The less confident the AI is, the more cautious the option it's allowed to </a:t>
            </a:r>
            <a:r>
              <a:rPr sz="1300" b="0" i="0">
                <a:solidFill>
                  <a:srgbClr val="D5DBDB"/>
                </a:solidFill>
                <a:latin typeface="Arial"/>
              </a:rPr>
              <a:t>pick.</a:t>
            </a:r>
            <a:r>
              <a:rPr lang="en-US" sz="1300" dirty="0">
                <a:solidFill>
                  <a:srgbClr val="D5DBDB"/>
                </a:solidFill>
                <a:latin typeface="Arial"/>
                <a:ea typeface="+mn-lt"/>
                <a:cs typeface="Arial"/>
              </a:rPr>
              <a:t> 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Below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 a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confidence threshold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,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it skips local routing entirely and defaults to the warehouse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52044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" y="3813048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31A22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66674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9900"/>
                </a:solidFill>
                <a:latin typeface="Arial"/>
              </a:rPr>
              <a:t>Two humans double-check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4050792"/>
            <a:ext cx="9692640" cy="430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 dirty="0">
                <a:solidFill>
                  <a:srgbClr val="D5DBDB"/>
                </a:solidFill>
                <a:latin typeface="Arial"/>
              </a:rPr>
              <a:t>A 30-second look by the pickup driver, then a 10-minute check at the local station</a:t>
            </a:r>
            <a:r>
              <a:rPr lang="en-US" sz="1300" dirty="0">
                <a:solidFill>
                  <a:srgbClr val="D5DBDB"/>
                </a:solidFill>
                <a:latin typeface="Arial"/>
              </a:rPr>
              <a:t> ( Amazon FBA ).</a:t>
            </a:r>
            <a:r>
              <a:rPr sz="1300" b="0" i="0" dirty="0">
                <a:solidFill>
                  <a:srgbClr val="D5DBDB"/>
                </a:solidFill>
                <a:latin typeface="Arial"/>
              </a:rPr>
              <a:t> If a person disagrees, the plan </a:t>
            </a:r>
            <a:r>
              <a:rPr sz="1300" b="0" i="0">
                <a:solidFill>
                  <a:srgbClr val="D5DBDB"/>
                </a:solidFill>
                <a:latin typeface="Arial"/>
              </a:rPr>
              <a:t>updates on the spot.</a:t>
            </a:r>
            <a:endParaRPr lang="en-US" sz="1300" b="0" i="0" dirty="0">
              <a:solidFill>
                <a:srgbClr val="D5DBDB"/>
              </a:solidFill>
              <a:latin typeface="Arial"/>
              <a:cs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" y="475488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68680" y="5047488"/>
            <a:ext cx="502920" cy="502920"/>
          </a:xfrm>
          <a:prstGeom prst="ellipse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31A22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90118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FF9900"/>
                </a:solidFill>
                <a:latin typeface="Arial"/>
              </a:rPr>
              <a:t>Worst case = 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285232"/>
            <a:ext cx="9692640" cy="2120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If nothing local makes sense, it does exactly what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happens today and sends 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it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to 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the </a:t>
            </a:r>
            <a:r>
              <a:rPr lang="en-US" sz="1300" dirty="0">
                <a:solidFill>
                  <a:srgbClr val="D5DBDB"/>
                </a:solidFill>
                <a:ea typeface="+mn-lt"/>
                <a:cs typeface="+mn-lt"/>
              </a:rPr>
              <a:t>warehouse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. </a:t>
            </a:r>
            <a:r>
              <a:rPr lang="en-US" sz="1300" dirty="0" err="1">
                <a:solidFill>
                  <a:srgbClr val="D5DBDB"/>
                </a:solidFill>
                <a:ea typeface="+mn-lt"/>
                <a:cs typeface="+mn-lt"/>
              </a:rPr>
              <a:t>ReLoop</a:t>
            </a:r>
            <a:r>
              <a:rPr lang="en-US" sz="1300" b="0" i="0" dirty="0">
                <a:solidFill>
                  <a:srgbClr val="D5DBDB"/>
                </a:solidFill>
                <a:ea typeface="+mn-lt"/>
                <a:cs typeface="+mn-lt"/>
              </a:rPr>
              <a:t> can only do better, never worse.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TRICKY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“But what about the weird ones?”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1">
                <a:solidFill>
                  <a:srgbClr val="9BA7B0"/>
                </a:solidFill>
                <a:latin typeface="Arial"/>
              </a:rPr>
              <a:t>Every odd case lands on one of two guarantees: play it safe, or fall back to exactly what Amazon does today. So we never do worse.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93392"/>
            <a:ext cx="3246120" cy="489204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The tricky case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1993392"/>
            <a:ext cx="2880360" cy="489204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The worry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1993392"/>
            <a:ext cx="5120640" cy="489204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How ReLoop handles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82596"/>
            <a:ext cx="3246120" cy="48920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The AI grades it wrong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2482596"/>
            <a:ext cx="2880360" cy="48920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A bad call reaches a buyer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482596"/>
            <a:ext cx="5120640" cy="48920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Caught by two human checks (driver + station) before any buyer sees it — worst case is one shelf move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71800"/>
            <a:ext cx="3246120" cy="48920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Too good to bother (sealed, like-new)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2971800"/>
            <a:ext cx="2880360" cy="48920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Wasted on a cheap channel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971800"/>
            <a:ext cx="5120640" cy="48920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Straight back on the shelf — skips the pipeline, sells before it loses 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61004"/>
            <a:ext cx="3246120" cy="48920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The AI isn't sure (blurry photos)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86200" y="3461004"/>
            <a:ext cx="2880360" cy="48920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An over-confident wrong guess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461004"/>
            <a:ext cx="5120640" cy="48920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The less sure it is, the safer it plays — low confidence falls back to today's warehouse 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50208"/>
            <a:ext cx="3246120" cy="48920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Packaging / accessories missing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3950208"/>
            <a:ext cx="2880360" cy="48920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Can't resell as new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3950208"/>
            <a:ext cx="5120640" cy="48920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Repacked at the local station; a missing ₹300 cable becomes a repair worth +₹1,500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439412"/>
            <a:ext cx="3246120" cy="48920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Nobody nearby wants 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6200" y="4439412"/>
            <a:ext cx="2880360" cy="48920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The item just sits unsold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4439412"/>
            <a:ext cx="5120640" cy="48920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Demand was priced in up front; an unsold listing auto-cascades to donate / recycle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928616"/>
            <a:ext cx="3246120" cy="48920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Customer hides damage / fraud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4928616"/>
            <a:ext cx="2880360" cy="48920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Refunding a lie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4928616"/>
            <a:ext cx="5120640" cy="48920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Refund is held until a human verifies; photo-reuse + capture checks flag fakes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417820"/>
            <a:ext cx="3246120" cy="48920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Every option loses money (cheap item)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86200" y="5417820"/>
            <a:ext cx="2880360" cy="48920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Costs more to process than it's worth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5417820"/>
            <a:ext cx="5120640" cy="489204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“Keep it, we'll refund you” — no pickup at all; trusted customers only, never with a fraud signal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907024"/>
            <a:ext cx="3246120" cy="48920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Counterfeit / hazmat / recalled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86200" y="5907024"/>
            <a:ext cx="2880360" cy="48920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Legal &amp; safety risk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5907024"/>
            <a:ext cx="5120640" cy="489204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00" b="0">
                <a:solidFill>
                  <a:srgbClr val="D5DBDB"/>
                </a:solidFill>
                <a:latin typeface="Arial"/>
              </a:rPr>
              <a:t>Hard safety rules decide first, never overridden by money — routed to seller or certified disposal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18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THE TRUST QUESTION</a:t>
            </a:r>
            <a:r>
              <a:rPr lang="en-US" sz="1250" b="1">
                <a:solidFill>
                  <a:srgbClr val="FF9900"/>
                </a:solidFill>
                <a:latin typeface="Arial"/>
              </a:rPr>
              <a:t>:</a:t>
            </a:r>
            <a:r>
              <a:rPr sz="1250" b="1" i="0">
                <a:solidFill>
                  <a:srgbClr val="FF9900"/>
                </a:solidFill>
                <a:latin typeface="Arial"/>
              </a:rPr>
              <a:t> WOULD A STRANGER BUY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ea typeface="+mn-lt"/>
                <a:cs typeface="+mn-lt"/>
              </a:rPr>
              <a:t>THE TRUST QUESTION:</a:t>
            </a:r>
            <a:r>
              <a:rPr lang="en-US" sz="3000" b="1" i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3000" b="1">
                <a:solidFill>
                  <a:srgbClr val="FFFFFF"/>
                </a:solidFill>
                <a:ea typeface="+mn-lt"/>
                <a:cs typeface="+mn-lt"/>
              </a:rPr>
              <a:t>WILL THE SELLER LET GO?</a:t>
            </a:r>
            <a:endParaRPr lang="en-US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577840" cy="1640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500" b="1" dirty="0">
                <a:solidFill>
                  <a:srgbClr val="D5DBDB"/>
                </a:solidFill>
                <a:ea typeface="+mn-lt"/>
                <a:cs typeface="+mn-lt"/>
              </a:rPr>
              <a:t>Every item gets a health </a:t>
            </a:r>
            <a:r>
              <a:rPr lang="en-US" sz="1500" b="1" dirty="0" err="1">
                <a:solidFill>
                  <a:srgbClr val="D5DBDB"/>
                </a:solidFill>
                <a:ea typeface="+mn-lt"/>
                <a:cs typeface="+mn-lt"/>
              </a:rPr>
              <a:t>record</a:t>
            </a:r>
            <a:r>
              <a:rPr lang="en-US" sz="1500" b="1" dirty="0">
                <a:solidFill>
                  <a:srgbClr val="D5DBDB"/>
                </a:solidFill>
                <a:ea typeface="+mn-lt"/>
                <a:cs typeface="+mn-lt"/>
              </a:rPr>
              <a:t> so the seller knows exactly what they're sending</a:t>
            </a:r>
            <a:endParaRPr lang="en-US" dirty="0"/>
          </a:p>
          <a:p>
            <a:pPr algn="l">
              <a:spcBef>
                <a:spcPts val="0"/>
              </a:spcBef>
            </a:pPr>
            <a:endParaRPr lang="en-US" sz="1500" b="1" i="0" dirty="0">
              <a:solidFill>
                <a:srgbClr val="D5DBDB"/>
              </a:solidFill>
              <a:latin typeface="Calibri"/>
              <a:ea typeface="Calibri"/>
              <a:cs typeface="Calibri"/>
            </a:endParaRPr>
          </a:p>
          <a:p>
            <a:r>
              <a:rPr lang="en-US" sz="1500" dirty="0">
                <a:solidFill>
                  <a:srgbClr val="D5DBDB"/>
                </a:solidFill>
                <a:ea typeface="+mn-lt"/>
                <a:cs typeface="+mn-lt"/>
              </a:rPr>
              <a:t>Sellers hesitate to accept local routing because they don't know what their item is actually worth in its current state. The Health Card removes that hesitation.</a:t>
            </a:r>
            <a:endParaRPr lang="en-US" dirty="0"/>
          </a:p>
          <a:p>
            <a:pPr>
              <a:lnSpc>
                <a:spcPct val="122000"/>
              </a:lnSpc>
              <a:spcAft>
                <a:spcPts val="400"/>
              </a:spcAft>
            </a:pPr>
            <a:endParaRPr lang="en-US" sz="1500" dirty="0">
              <a:solidFill>
                <a:srgbClr val="D5DBDB"/>
              </a:solidFill>
              <a:latin typeface="Arial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4309" y="3293291"/>
            <a:ext cx="5846354" cy="1922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 dirty="0">
                <a:solidFill>
                  <a:srgbClr val="FF9900"/>
                </a:solidFill>
                <a:latin typeface="Arial"/>
              </a:rPr>
              <a:t>•</a:t>
            </a:r>
            <a:r>
              <a:rPr lang="en-US" sz="1400" b="1" dirty="0">
                <a:solidFill>
                  <a:srgbClr val="FF99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600" b="1" dirty="0">
                <a:solidFill>
                  <a:srgbClr val="FFFFFF"/>
                </a:solidFill>
                <a:ea typeface="+mn-lt"/>
                <a:cs typeface="+mn-lt"/>
              </a:rPr>
              <a:t>A</a:t>
            </a:r>
            <a:r>
              <a:rPr lang="en-US" sz="1600" b="1" i="0" dirty="0">
                <a:solidFill>
                  <a:srgbClr val="FFFFFF"/>
                </a:solidFill>
                <a:ea typeface="+mn-lt"/>
                <a:cs typeface="+mn-lt"/>
              </a:rPr>
              <a:t> H</a:t>
            </a:r>
            <a:r>
              <a:rPr lang="en-US" sz="1600" b="1" i="0" err="1">
                <a:solidFill>
                  <a:srgbClr val="FFFFFF"/>
                </a:solidFill>
                <a:ea typeface="+mn-lt"/>
                <a:cs typeface="+mn-lt"/>
              </a:rPr>
              <a:t>e</a:t>
            </a:r>
            <a:r>
              <a:rPr lang="en-US" sz="1600" b="1" i="0" dirty="0">
                <a:solidFill>
                  <a:srgbClr val="FFFFFF"/>
                </a:solidFill>
                <a:ea typeface="+mn-lt"/>
                <a:cs typeface="+mn-lt"/>
              </a:rPr>
              <a:t>alth Card </a:t>
            </a:r>
            <a:r>
              <a:rPr lang="en-US" sz="1600" b="1" dirty="0">
                <a:solidFill>
                  <a:srgbClr val="FFFFFF"/>
                </a:solidFill>
                <a:ea typeface="+mn-lt"/>
                <a:cs typeface="+mn-lt"/>
              </a:rPr>
              <a:t>is generated the moment grading happens</a:t>
            </a: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Arial"/>
                <a:ea typeface="Calibri"/>
              </a:rPr>
              <a:t> </a:t>
            </a:r>
            <a:r>
              <a:rPr lang="en-US" sz="1600" b="0" i="0">
                <a:solidFill>
                  <a:srgbClr val="D5DBDB"/>
                </a:solidFill>
                <a:ea typeface="+mn-lt"/>
                <a:cs typeface="+mn-lt"/>
              </a:rPr>
              <a:t>condition, photos, every </a:t>
            </a:r>
            <a:r>
              <a:rPr lang="en-US" sz="1600">
                <a:solidFill>
                  <a:srgbClr val="D5DBDB"/>
                </a:solidFill>
                <a:ea typeface="+mn-lt"/>
                <a:cs typeface="+mn-lt"/>
              </a:rPr>
              <a:t>defect spotted, confidence </a:t>
            </a:r>
            <a:r>
              <a:rPr lang="en-US" sz="1600" dirty="0">
                <a:solidFill>
                  <a:srgbClr val="D5DBDB"/>
                </a:solidFill>
                <a:ea typeface="+mn-lt"/>
                <a:cs typeface="+mn-lt"/>
              </a:rPr>
              <a:t>score</a:t>
            </a:r>
            <a:r>
              <a:rPr lang="en-US" sz="1600" b="0" i="0" dirty="0">
                <a:solidFill>
                  <a:srgbClr val="D5DBDB"/>
                </a:solidFill>
                <a:ea typeface="+mn-lt"/>
                <a:cs typeface="+mn-lt"/>
              </a:rPr>
              <a:t>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 i="0" dirty="0">
                <a:solidFill>
                  <a:srgbClr val="FF9900"/>
                </a:solidFill>
                <a:latin typeface="Arial"/>
              </a:rPr>
              <a:t>•</a:t>
            </a:r>
            <a:r>
              <a:rPr sz="1600" b="1" i="0" dirty="0">
                <a:solidFill>
                  <a:srgbClr val="FF9900"/>
                </a:solidFill>
                <a:latin typeface="Arial"/>
              </a:rPr>
              <a:t> </a:t>
            </a:r>
            <a:r>
              <a:rPr lang="en-US" sz="1600" b="1" dirty="0">
                <a:solidFill>
                  <a:srgbClr val="FF99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Arial"/>
                <a:ea typeface="+mn-lt"/>
                <a:cs typeface="Arial"/>
              </a:rPr>
              <a:t>I</a:t>
            </a:r>
            <a:r>
              <a:rPr lang="en-US" sz="1600" b="1" dirty="0">
                <a:solidFill>
                  <a:srgbClr val="FFFFFF"/>
                </a:solidFill>
                <a:latin typeface="Calibri"/>
                <a:ea typeface="+mn-lt"/>
                <a:cs typeface="Calibri"/>
              </a:rPr>
              <a:t>t</a:t>
            </a:r>
            <a:r>
              <a:rPr lang="en-US" sz="1600" b="1" dirty="0">
                <a:solidFill>
                  <a:srgbClr val="FFFFFF"/>
                </a:solidFill>
                <a:ea typeface="+mn-lt"/>
                <a:cs typeface="+mn-lt"/>
              </a:rPr>
              <a:t> tells the seller exactly what they have</a:t>
            </a:r>
            <a:r>
              <a:rPr sz="1600" b="1" i="0" dirty="0">
                <a:solidFill>
                  <a:srgbClr val="FFFFFF"/>
                </a:solidFill>
                <a:latin typeface="Arial"/>
              </a:rPr>
              <a:t>, </a:t>
            </a:r>
            <a:r>
              <a:rPr lang="en-US" sz="1600" b="0" i="0" dirty="0">
                <a:solidFill>
                  <a:srgbClr val="FFFFFF"/>
                </a:solidFill>
                <a:ea typeface="+mn-lt"/>
                <a:cs typeface="+mn-lt"/>
              </a:rPr>
              <a:t>not a </a:t>
            </a: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guess, a verified </a:t>
            </a:r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snapshot </a:t>
            </a:r>
            <a:r>
              <a:rPr lang="en-US" sz="1600" b="0" i="0">
                <a:solidFill>
                  <a:srgbClr val="FFFFFF"/>
                </a:solidFill>
                <a:ea typeface="+mn-lt"/>
                <a:cs typeface="+mn-lt"/>
              </a:rPr>
              <a:t>so </a:t>
            </a:r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they </a:t>
            </a:r>
            <a:r>
              <a:rPr lang="en-US" sz="1600" b="0" i="0">
                <a:solidFill>
                  <a:srgbClr val="FFFFFF"/>
                </a:solidFill>
                <a:ea typeface="+mn-lt"/>
                <a:cs typeface="+mn-lt"/>
              </a:rPr>
              <a:t>can </a:t>
            </a:r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make the local routing decision with </a:t>
            </a: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confidence</a:t>
            </a:r>
            <a:r>
              <a:rPr lang="en-US" sz="1600" b="0" i="0" dirty="0">
                <a:solidFill>
                  <a:srgbClr val="FFFFFF"/>
                </a:solidFill>
                <a:ea typeface="+mn-lt"/>
                <a:cs typeface="+mn-lt"/>
              </a:rPr>
              <a:t>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lang="en-US" sz="1600" b="1">
                <a:solidFill>
                  <a:srgbClr val="D5DBDB"/>
                </a:solidFill>
                <a:ea typeface="+mn-lt"/>
                <a:cs typeface="+mn-lt"/>
              </a:rPr>
              <a:t>It travels with </a:t>
            </a:r>
            <a:r>
              <a:rPr lang="en-US" sz="1600" b="1" i="0">
                <a:solidFill>
                  <a:srgbClr val="D5DBDB"/>
                </a:solidFill>
                <a:ea typeface="+mn-lt"/>
                <a:cs typeface="+mn-lt"/>
              </a:rPr>
              <a:t>the item</a:t>
            </a:r>
            <a:r>
              <a:rPr lang="en-US" sz="1600" i="0">
                <a:solidFill>
                  <a:srgbClr val="D5DBDB"/>
                </a:solidFill>
                <a:ea typeface="+mn-lt"/>
                <a:cs typeface="+mn-lt"/>
              </a:rPr>
              <a:t> </a:t>
            </a:r>
            <a:r>
              <a:rPr lang="en-US" sz="1600" b="0" i="0">
                <a:solidFill>
                  <a:srgbClr val="D5DBDB"/>
                </a:solidFill>
                <a:ea typeface="+mn-lt"/>
                <a:cs typeface="+mn-lt"/>
              </a:rPr>
              <a:t>to </a:t>
            </a:r>
            <a:r>
              <a:rPr lang="en-US" sz="1600">
                <a:solidFill>
                  <a:srgbClr val="D5DBDB"/>
                </a:solidFill>
                <a:ea typeface="+mn-lt"/>
                <a:cs typeface="+mn-lt"/>
              </a:rPr>
              <a:t>the hub </a:t>
            </a:r>
            <a:r>
              <a:rPr lang="en-US" sz="1600" b="0" i="0">
                <a:solidFill>
                  <a:srgbClr val="D5DBDB"/>
                </a:solidFill>
                <a:ea typeface="+mn-lt"/>
                <a:cs typeface="+mn-lt"/>
              </a:rPr>
              <a:t>and the </a:t>
            </a:r>
            <a:r>
              <a:rPr lang="en-US" sz="1600">
                <a:solidFill>
                  <a:srgbClr val="D5DBDB"/>
                </a:solidFill>
                <a:ea typeface="+mn-lt"/>
                <a:cs typeface="+mn-lt"/>
              </a:rPr>
              <a:t>buyer, so everyone in the chain sees the same verified truth</a:t>
            </a:r>
            <a:r>
              <a:rPr lang="en-US" sz="1600" b="0" i="0">
                <a:solidFill>
                  <a:srgbClr val="D5DBDB"/>
                </a:solidFill>
                <a:ea typeface="+mn-lt"/>
                <a:cs typeface="+mn-lt"/>
              </a:rPr>
              <a:t>.</a:t>
            </a:r>
            <a:endParaRPr lang="en-US" sz="1600">
              <a:ea typeface="+mn-lt"/>
              <a:cs typeface="+mn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46520" y="1737360"/>
            <a:ext cx="5074920" cy="4023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46520" y="1737360"/>
            <a:ext cx="5074920" cy="10972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20840" y="201168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9900"/>
                </a:solidFill>
                <a:latin typeface="Arial"/>
              </a:rPr>
              <a:t>PRODUCT HEALTH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6060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C48D"/>
                </a:solidFill>
                <a:latin typeface="Arial"/>
              </a:rPr>
              <a:t>✓ Condition: like-new (verified)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1089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C48D"/>
                </a:solidFill>
                <a:latin typeface="Arial"/>
              </a:rPr>
              <a:t>✓ Checked at pickup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6118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C48D"/>
                </a:solidFill>
                <a:latin typeface="Arial"/>
              </a:rPr>
              <a:t>✓ Checked at the local station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1148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EC48D"/>
                </a:solidFill>
                <a:latin typeface="Arial"/>
              </a:rPr>
              <a:t>✓ Genuine — serial matches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6177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D5DBDB"/>
                </a:solidFill>
                <a:latin typeface="Arial"/>
              </a:rPr>
              <a:t>• Photos included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D5DBDB"/>
                </a:solidFill>
                <a:latin typeface="Arial"/>
              </a:rPr>
              <a:t>• Owner 2 of 2 · CO₂ saved so far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IT DOESN'T STOP AT “LIST IT”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3000" b="1">
                <a:solidFill>
                  <a:srgbClr val="FFFFFF"/>
                </a:solidFill>
                <a:latin typeface="Arial"/>
              </a:rPr>
              <a:t>An</a:t>
            </a:r>
            <a:r>
              <a:rPr lang="en-US" sz="3000" b="1" dirty="0">
                <a:solidFill>
                  <a:srgbClr val="FFFFFF"/>
                </a:solidFill>
                <a:latin typeface="Arial"/>
              </a:rPr>
              <a:t> agent</a:t>
            </a:r>
            <a:r>
              <a:rPr sz="3000" b="1" i="0" dirty="0">
                <a:solidFill>
                  <a:srgbClr val="FFFFFF"/>
                </a:solidFill>
                <a:latin typeface="Arial"/>
              </a:rPr>
              <a:t> keeps working until the item sells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5577840" cy="21568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1" i="0" dirty="0">
                <a:solidFill>
                  <a:srgbClr val="FF9900"/>
                </a:solidFill>
                <a:latin typeface="Arial"/>
              </a:rPr>
              <a:t>• </a:t>
            </a:r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It</a:t>
            </a: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600" i="0" dirty="0">
                <a:solidFill>
                  <a:srgbClr val="FFFFFF"/>
                </a:solidFill>
                <a:ea typeface="+mn-lt"/>
                <a:cs typeface="+mn-lt"/>
              </a:rPr>
              <a:t>watches each listing </a:t>
            </a:r>
            <a:r>
              <a:rPr lang="en-US" sz="1600" b="0" i="0" dirty="0">
                <a:solidFill>
                  <a:srgbClr val="FFFFFF"/>
                </a:solidFill>
                <a:ea typeface="+mn-lt"/>
                <a:cs typeface="+mn-lt"/>
              </a:rPr>
              <a:t>and adjusts the price </a:t>
            </a:r>
            <a:r>
              <a:rPr lang="en-US" sz="1600" dirty="0">
                <a:solidFill>
                  <a:srgbClr val="FFFFFF"/>
                </a:solidFill>
                <a:ea typeface="+mn-lt"/>
                <a:cs typeface="+mn-lt"/>
              </a:rPr>
              <a:t>as time runs out and </a:t>
            </a:r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demand shifts</a:t>
            </a:r>
            <a:r>
              <a:rPr lang="en-US" sz="1600" b="0" i="0">
                <a:solidFill>
                  <a:srgbClr val="FFFFFF"/>
                </a:solidFill>
                <a:ea typeface="+mn-lt"/>
                <a:cs typeface="+mn-lt"/>
              </a:rPr>
              <a:t> something a warehouse queue can never do.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 dirty="0">
                <a:solidFill>
                  <a:srgbClr val="FF9900"/>
                </a:solidFill>
                <a:latin typeface="Arial"/>
              </a:rPr>
              <a:t>•  </a:t>
            </a:r>
            <a:r>
              <a:rPr sz="1500" b="1" i="0" dirty="0">
                <a:solidFill>
                  <a:srgbClr val="FFFFFF"/>
                </a:solidFill>
                <a:latin typeface="Arial"/>
              </a:rPr>
              <a:t>It finds the right buyers </a:t>
            </a:r>
            <a:r>
              <a:rPr sz="1500" b="0" i="0" dirty="0">
                <a:solidFill>
                  <a:srgbClr val="D5DBDB"/>
                </a:solidFill>
                <a:latin typeface="Arial"/>
              </a:rPr>
              <a:t>by tapping into who nearby already searched for, </a:t>
            </a:r>
            <a:r>
              <a:rPr sz="1500" b="0" i="0" dirty="0" err="1">
                <a:solidFill>
                  <a:srgbClr val="D5DBDB"/>
                </a:solidFill>
                <a:latin typeface="Arial"/>
              </a:rPr>
              <a:t>wishlisted</a:t>
            </a:r>
            <a:r>
              <a:rPr sz="1500" b="0" i="0" dirty="0">
                <a:solidFill>
                  <a:srgbClr val="D5DBDB"/>
                </a:solidFill>
                <a:latin typeface="Arial"/>
              </a:rPr>
              <a:t>, or bought similar things.</a:t>
            </a:r>
            <a:endParaRPr sz="1500" b="0" i="0" dirty="0">
              <a:solidFill>
                <a:srgbClr val="D5DBDB"/>
              </a:solidFill>
              <a:latin typeface="Arial"/>
              <a:cs typeface="Arial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500" b="1" i="0" dirty="0">
                <a:solidFill>
                  <a:srgbClr val="FF9900"/>
                </a:solidFill>
                <a:latin typeface="Arial"/>
              </a:rPr>
              <a:t>•  </a:t>
            </a:r>
            <a:r>
              <a:rPr sz="1500" b="1" i="0" dirty="0">
                <a:solidFill>
                  <a:srgbClr val="FFFFFF"/>
                </a:solidFill>
                <a:latin typeface="Arial"/>
              </a:rPr>
              <a:t>It knows when to give up gracefully. </a:t>
            </a:r>
            <a:r>
              <a:rPr sz="1500" b="0" i="0" dirty="0">
                <a:solidFill>
                  <a:srgbClr val="D5DBDB"/>
                </a:solidFill>
                <a:latin typeface="Arial"/>
              </a:rPr>
              <a:t>If resale truly isn't </a:t>
            </a:r>
            <a:r>
              <a:rPr sz="1500" b="0" i="0">
                <a:solidFill>
                  <a:srgbClr val="D5DBDB"/>
                </a:solidFill>
                <a:latin typeface="Arial"/>
              </a:rPr>
              <a:t>working, it doesn't let the item rot it hands it back to the engine, </a:t>
            </a:r>
            <a:r>
              <a:rPr sz="1500" b="0" i="0" dirty="0">
                <a:solidFill>
                  <a:srgbClr val="D5DBDB"/>
                </a:solidFill>
                <a:latin typeface="Arial"/>
              </a:rPr>
              <a:t>which donates or recycles it instead.</a:t>
            </a:r>
            <a:endParaRPr sz="1500" b="0" i="0" dirty="0">
              <a:solidFill>
                <a:srgbClr val="D5DBDB"/>
              </a:solidFill>
              <a:latin typeface="Arial"/>
              <a:cs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446520" y="1783080"/>
            <a:ext cx="5074920" cy="38404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0840" y="20116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9900"/>
                </a:solidFill>
                <a:latin typeface="Arial"/>
              </a:rPr>
              <a:t>Where a buyer sees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514600"/>
            <a:ext cx="4572000" cy="571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  <a:spcAft>
                <a:spcPts val="400"/>
              </a:spcAft>
            </a:pPr>
            <a:r>
              <a:rPr lang="en-US" sz="1600">
                <a:solidFill>
                  <a:srgbClr val="D5DBDB"/>
                </a:solidFill>
                <a:ea typeface="+mn-lt"/>
                <a:cs typeface="+mn-lt"/>
              </a:rPr>
              <a:t>Verified open-box </a:t>
            </a:r>
            <a:r>
              <a:rPr lang="en-US" sz="1600" i="0">
                <a:solidFill>
                  <a:srgbClr val="D5DBDB"/>
                </a:solidFill>
                <a:ea typeface="+mn-lt"/>
                <a:cs typeface="+mn-lt"/>
              </a:rPr>
              <a:t>near you </a:t>
            </a:r>
            <a:r>
              <a:rPr lang="en-US" sz="1600">
                <a:solidFill>
                  <a:srgbClr val="D5DBDB"/>
                </a:solidFill>
                <a:ea typeface="+mn-lt"/>
                <a:cs typeface="+mn-lt"/>
              </a:rPr>
              <a:t>which</a:t>
            </a:r>
            <a:r>
              <a:rPr lang="en-US" sz="1600" i="0">
                <a:solidFill>
                  <a:srgbClr val="D5DBDB"/>
                </a:solidFill>
                <a:ea typeface="+mn-lt"/>
                <a:cs typeface="+mn-lt"/>
              </a:rPr>
              <a:t> </a:t>
            </a:r>
            <a:r>
              <a:rPr lang="en-US" sz="1600">
                <a:solidFill>
                  <a:srgbClr val="D5DBDB"/>
                </a:solidFill>
                <a:ea typeface="+mn-lt"/>
                <a:cs typeface="+mn-lt"/>
              </a:rPr>
              <a:t>is </a:t>
            </a:r>
            <a:r>
              <a:rPr lang="en-US" sz="1600" i="0">
                <a:solidFill>
                  <a:srgbClr val="D5DBDB"/>
                </a:solidFill>
                <a:ea typeface="+mn-lt"/>
                <a:cs typeface="+mn-lt"/>
              </a:rPr>
              <a:t>checked, guaranteed, </a:t>
            </a:r>
            <a:r>
              <a:rPr lang="en-US" sz="1600" i="0" dirty="0">
                <a:solidFill>
                  <a:srgbClr val="D5DBDB"/>
                </a:solidFill>
                <a:ea typeface="+mn-lt"/>
                <a:cs typeface="+mn-lt"/>
              </a:rPr>
              <a:t>delivered today</a:t>
            </a:r>
            <a:r>
              <a:rPr lang="en-US" sz="1600" b="0" i="0" dirty="0">
                <a:solidFill>
                  <a:srgbClr val="D5DBDB"/>
                </a:solidFill>
                <a:ea typeface="+mn-lt"/>
                <a:cs typeface="+mn-lt"/>
              </a:rPr>
              <a:t>.</a:t>
            </a:r>
            <a:endParaRPr lang="en-US" sz="1600" dirty="0">
              <a:ea typeface="+mn-lt"/>
              <a:cs typeface="+mn-l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720840" y="4069080"/>
            <a:ext cx="4526280" cy="1371600"/>
          </a:xfrm>
          <a:prstGeom prst="roundRect">
            <a:avLst>
              <a:gd name="adj" fmla="val 6000"/>
            </a:avLst>
          </a:prstGeom>
          <a:solidFill>
            <a:srgbClr val="0C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4251960"/>
            <a:ext cx="4114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CFE8D6"/>
                </a:solidFill>
                <a:latin typeface="Consolas"/>
              </a:rPr>
              <a:t>A returns warehouse can't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CFE8D6"/>
                </a:solidFill>
                <a:latin typeface="Consolas"/>
              </a:rPr>
              <a:t>negotiate a price or chase 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5DC8E8"/>
                </a:solidFill>
                <a:latin typeface="Consolas"/>
              </a:rPr>
              <a:t>buyer. This little agent does —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0" i="0">
                <a:solidFill>
                  <a:srgbClr val="5DC8E8"/>
                </a:solidFill>
                <a:latin typeface="Consolas"/>
              </a:rPr>
              <a:t>every single 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FOLLOW THE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Why this actually saves and makes money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91440" cy="1737360"/>
          </a:xfrm>
          <a:prstGeom prst="rect">
            <a:avLst/>
          </a:prstGeom>
          <a:solidFill>
            <a:srgbClr val="2EC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8424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C48D"/>
                </a:solidFill>
                <a:latin typeface="Arial"/>
              </a:rPr>
              <a:t>Skip the long trip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For local items, we delete the sorting hop, the 500km+ haul, and the weeks of waiting. That's pure saved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72200" y="1783080"/>
            <a:ext cx="91440" cy="1737360"/>
          </a:xfrm>
          <a:prstGeom prst="rect">
            <a:avLst/>
          </a:prstGeom>
          <a:solidFill>
            <a:srgbClr val="2EC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98424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C48D"/>
                </a:solidFill>
                <a:latin typeface="Arial"/>
              </a:rPr>
              <a:t>Sell before value drops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68880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Electronics and fashion lose value fast. Selling in days instead of weeks keeps more of the price.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49039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749039"/>
            <a:ext cx="91440" cy="1737360"/>
          </a:xfrm>
          <a:prstGeom prst="rect">
            <a:avLst/>
          </a:prstGeom>
          <a:solidFill>
            <a:srgbClr val="2EC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950207"/>
            <a:ext cx="4846320" cy="279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b="1">
                <a:solidFill>
                  <a:srgbClr val="2EC48D"/>
                </a:solidFill>
                <a:ea typeface="+mn-lt"/>
                <a:cs typeface="+mn-lt"/>
              </a:rPr>
              <a:t>Match before it moves</a:t>
            </a:r>
            <a:endParaRPr lang="en-US" sz="2000" b="1">
              <a:ea typeface="Calibri"/>
              <a:cs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20" y="4434839"/>
            <a:ext cx="4846320" cy="6387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50" b="0" i="0" dirty="0">
                <a:solidFill>
                  <a:srgbClr val="D5DBDB"/>
                </a:solidFill>
                <a:ea typeface="+mn-lt"/>
                <a:cs typeface="+mn-lt"/>
              </a:rPr>
              <a:t>A </a:t>
            </a:r>
            <a:r>
              <a:rPr lang="en-US" sz="1350" dirty="0">
                <a:solidFill>
                  <a:srgbClr val="D5DBDB"/>
                </a:solidFill>
                <a:ea typeface="+mn-lt"/>
                <a:cs typeface="+mn-lt"/>
              </a:rPr>
              <a:t>buyer is found during the pickup </a:t>
            </a:r>
            <a:r>
              <a:rPr lang="en-US" sz="1350" dirty="0" err="1">
                <a:solidFill>
                  <a:srgbClr val="D5DBDB"/>
                </a:solidFill>
                <a:ea typeface="+mn-lt"/>
                <a:cs typeface="+mn-lt"/>
              </a:rPr>
              <a:t>window</a:t>
            </a:r>
            <a:r>
              <a:rPr lang="en-US" sz="1350" dirty="0">
                <a:solidFill>
                  <a:srgbClr val="D5DBDB"/>
                </a:solidFill>
                <a:ea typeface="+mn-lt"/>
                <a:cs typeface="+mn-lt"/>
              </a:rPr>
              <a:t> so </a:t>
            </a:r>
            <a:r>
              <a:rPr lang="en-US" sz="1350" b="0" i="0" dirty="0">
                <a:solidFill>
                  <a:srgbClr val="D5DBDB"/>
                </a:solidFill>
                <a:ea typeface="+mn-lt"/>
                <a:cs typeface="+mn-lt"/>
              </a:rPr>
              <a:t>the </a:t>
            </a:r>
            <a:r>
              <a:rPr lang="en-US" sz="1350" dirty="0">
                <a:solidFill>
                  <a:srgbClr val="D5DBDB"/>
                </a:solidFill>
                <a:ea typeface="+mn-lt"/>
                <a:cs typeface="+mn-lt"/>
              </a:rPr>
              <a:t>item travels once, direct to its next owner. No warehouse stop, no second shipment</a:t>
            </a:r>
            <a:r>
              <a:rPr lang="en-US" sz="1350" b="0" i="0" dirty="0">
                <a:solidFill>
                  <a:srgbClr val="D5DBDB"/>
                </a:solidFill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endParaRPr sz="1350" b="0" i="0" dirty="0">
              <a:solidFill>
                <a:srgbClr val="D5DBDB"/>
              </a:solidFill>
              <a:latin typeface="Arial"/>
              <a:cs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72200" y="3749039"/>
            <a:ext cx="5349240" cy="173736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3749039"/>
            <a:ext cx="91440" cy="1737360"/>
          </a:xfrm>
          <a:prstGeom prst="rect">
            <a:avLst/>
          </a:prstGeom>
          <a:solidFill>
            <a:srgbClr val="2EC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3950207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EC48D"/>
                </a:solidFill>
                <a:latin typeface="Arial"/>
              </a:rPr>
              <a:t>Better liquidation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34839"/>
            <a:ext cx="4846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D5DBDB"/>
                </a:solidFill>
                <a:latin typeface="Arial"/>
              </a:rPr>
              <a:t>Clearly-labelled, graded boxes sell for more than “mystery pallets,” because buyers can see what's inside.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WHY THIS IS AMAZON'S TO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3000" b="1" i="0" dirty="0">
                <a:solidFill>
                  <a:srgbClr val="FFFFFF"/>
                </a:solidFill>
                <a:latin typeface="Arial"/>
              </a:rPr>
              <a:t>Amazon already owns the </a:t>
            </a:r>
            <a:r>
              <a:rPr sz="3000" b="1" i="0" dirty="0" err="1">
                <a:solidFill>
                  <a:srgbClr val="FFFFFF"/>
                </a:solidFill>
                <a:latin typeface="Arial"/>
              </a:rPr>
              <a:t>rails</a:t>
            </a:r>
            <a:r>
              <a:rPr sz="3000" b="1" i="0" dirty="0">
                <a:solidFill>
                  <a:srgbClr val="FFFFFF"/>
                </a:solidFill>
                <a:latin typeface="Arial"/>
              </a:rPr>
              <a:t> </a:t>
            </a:r>
            <a:r>
              <a:rPr lang="en-US" sz="3000" b="1" dirty="0">
                <a:solidFill>
                  <a:srgbClr val="FFFFFF"/>
                </a:solidFill>
                <a:latin typeface="Arial"/>
              </a:rPr>
              <a:t>and we</a:t>
            </a:r>
            <a:r>
              <a:rPr sz="3000" b="1" i="0" dirty="0">
                <a:solidFill>
                  <a:srgbClr val="FFFFFF"/>
                </a:solidFill>
                <a:latin typeface="Arial"/>
              </a:rPr>
              <a:t> add the missing piece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1698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 i="0" dirty="0">
                <a:solidFill>
                  <a:srgbClr val="FF9900"/>
                </a:solidFill>
                <a:latin typeface="Arial"/>
              </a:rPr>
              <a:t>•  </a:t>
            </a:r>
            <a:r>
              <a:rPr sz="1550" b="1" i="0" dirty="0">
                <a:solidFill>
                  <a:srgbClr val="FFFFFF"/>
                </a:solidFill>
                <a:latin typeface="Arial"/>
              </a:rPr>
              <a:t>The trucks, stations, and resale stores already exist. </a:t>
            </a:r>
            <a:r>
              <a:rPr sz="1550" b="0" i="0" dirty="0" err="1">
                <a:solidFill>
                  <a:srgbClr val="D5DBDB"/>
                </a:solidFill>
                <a:latin typeface="Arial"/>
              </a:rPr>
              <a:t>ReLoop</a:t>
            </a:r>
            <a:r>
              <a:rPr sz="1550" b="0" i="0" dirty="0">
                <a:solidFill>
                  <a:srgbClr val="D5DBDB"/>
                </a:solidFill>
                <a:latin typeface="Arial"/>
              </a:rPr>
              <a:t> doesn't rebuild any of that</a:t>
            </a:r>
            <a:r>
              <a:rPr lang="en-US" sz="1550" dirty="0">
                <a:solidFill>
                  <a:srgbClr val="D5DBDB"/>
                </a:solidFill>
                <a:latin typeface="Arial"/>
              </a:rPr>
              <a:t>,</a:t>
            </a:r>
            <a:r>
              <a:rPr sz="1550" b="0" i="0" dirty="0">
                <a:solidFill>
                  <a:srgbClr val="D5DBDB"/>
                </a:solidFill>
                <a:latin typeface="Arial"/>
              </a:rPr>
              <a:t> it just adds a brain at the very start.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 i="0" dirty="0">
                <a:solidFill>
                  <a:srgbClr val="FF9900"/>
                </a:solidFill>
                <a:latin typeface="Arial"/>
              </a:rPr>
              <a:t>•  </a:t>
            </a:r>
            <a:r>
              <a:rPr sz="1550" b="1" i="0" dirty="0">
                <a:solidFill>
                  <a:srgbClr val="FFFFFF"/>
                </a:solidFill>
                <a:latin typeface="Arial"/>
              </a:rPr>
              <a:t>The trust is already there. </a:t>
            </a:r>
            <a:r>
              <a:rPr sz="1550" b="0" i="0">
                <a:solidFill>
                  <a:srgbClr val="D5DBDB"/>
                </a:solidFill>
                <a:latin typeface="Arial"/>
              </a:rPr>
              <a:t>Every item is Amazon-checked and guaranteed </a:t>
            </a:r>
            <a:r>
              <a:rPr lang="en-US" sz="1550">
                <a:solidFill>
                  <a:srgbClr val="D5DBDB"/>
                </a:solidFill>
                <a:latin typeface="Arial"/>
              </a:rPr>
              <a:t>and</a:t>
            </a:r>
            <a:r>
              <a:rPr sz="1550" b="0" i="0">
                <a:solidFill>
                  <a:srgbClr val="D5DBDB"/>
                </a:solidFill>
                <a:latin typeface="Arial"/>
              </a:rPr>
              <a:t> not a stranger's promise. This is why it's not </a:t>
            </a:r>
            <a:r>
              <a:rPr sz="1550" b="0" i="0" dirty="0">
                <a:solidFill>
                  <a:srgbClr val="D5DBDB"/>
                </a:solidFill>
                <a:latin typeface="Arial"/>
              </a:rPr>
              <a:t>just another used-goods app.</a:t>
            </a:r>
            <a:endParaRPr sz="1550" b="0" i="0" dirty="0">
              <a:solidFill>
                <a:srgbClr val="D5DBDB"/>
              </a:solidFill>
              <a:latin typeface="Arial"/>
              <a:cs typeface="Arial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500"/>
              </a:spcAft>
            </a:pPr>
            <a:r>
              <a:rPr sz="1550" b="1" i="0">
                <a:solidFill>
                  <a:srgbClr val="FF9900"/>
                </a:solidFill>
                <a:latin typeface="Arial"/>
              </a:rPr>
              <a:t>•  </a:t>
            </a:r>
            <a:r>
              <a:rPr sz="1550" b="1" i="0">
                <a:solidFill>
                  <a:srgbClr val="FFFFFF"/>
                </a:solidFill>
                <a:latin typeface="Arial"/>
              </a:rPr>
              <a:t>It's a safe bet. </a:t>
            </a:r>
            <a:r>
              <a:rPr sz="1550" b="0" i="0">
                <a:solidFill>
                  <a:srgbClr val="D5DBDB"/>
                </a:solidFill>
                <a:latin typeface="Arial"/>
              </a:rPr>
              <a:t>Worst case, it does exactly what happens today. Every good early decision on top of that is pure upside.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09160"/>
            <a:ext cx="10881360" cy="114300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 w="19050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332720" cy="576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 dirty="0">
                <a:solidFill>
                  <a:srgbClr val="FF9900"/>
                </a:solidFill>
                <a:latin typeface="Arial"/>
              </a:rPr>
              <a:t>In one line:  </a:t>
            </a:r>
            <a:r>
              <a:rPr sz="1700" b="1" i="0">
                <a:solidFill>
                  <a:srgbClr val="FFFFFF"/>
                </a:solidFill>
                <a:latin typeface="Arial"/>
              </a:rPr>
              <a:t>look at the item at your door, decide its best next home before it moves and waste far </a:t>
            </a:r>
            <a:r>
              <a:rPr sz="1700" b="1" i="0" dirty="0">
                <a:solidFill>
                  <a:srgbClr val="FFFFFF"/>
                </a:solidFill>
                <a:latin typeface="Arial"/>
              </a:rPr>
              <a:t>less.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607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Arial"/>
              </a:rPr>
              <a:t>ReLoop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 i="0">
                <a:solidFill>
                  <a:srgbClr val="D5DBDB"/>
                </a:solidFill>
                <a:latin typeface="Arial"/>
              </a:rPr>
              <a:t>Grade at the doorstep.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9900"/>
                </a:solidFill>
                <a:latin typeface="Arial"/>
              </a:rPr>
              <a:t>Decide before the item moves.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9BA7B0"/>
                </a:solidFill>
                <a:latin typeface="Arial"/>
              </a:rPr>
              <a:t>“The landfill is a design flaw.”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DC8E8"/>
                </a:solidFill>
                <a:latin typeface="Arial"/>
              </a:rPr>
              <a:t>reloop-woad.vercel.app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UNDER THE HOOD — THE EYES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Our own grading model — not an API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6235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FF9900"/>
                </a:solidFill>
                <a:latin typeface="Arial"/>
              </a:rPr>
              <a:t>•  </a:t>
            </a:r>
            <a:r>
              <a:rPr sz="1400" b="1" i="0">
                <a:solidFill>
                  <a:srgbClr val="FFFFFF"/>
                </a:solidFill>
                <a:latin typeface="Arial"/>
              </a:rPr>
              <a:t>We trained our own eyes. </a:t>
            </a:r>
            <a:r>
              <a:rPr sz="1400" b="0" i="0">
                <a:solidFill>
                  <a:srgbClr val="D5DBDB"/>
                </a:solidFill>
                <a:latin typeface="Arial"/>
              </a:rPr>
              <a:t>A DINOv2 vision model — not a generic API — so grading can run right at the doorstep, with no cloud round-trip per return.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FF9900"/>
                </a:solidFill>
                <a:latin typeface="Arial"/>
              </a:rPr>
              <a:t>•  </a:t>
            </a:r>
            <a:r>
              <a:rPr sz="1400" b="1" i="0">
                <a:solidFill>
                  <a:srgbClr val="FFFFFF"/>
                </a:solidFill>
                <a:latin typeface="Arial"/>
              </a:rPr>
              <a:t>One photo, four answers at once. </a:t>
            </a:r>
            <a:r>
              <a:rPr sz="1400" b="0" i="0">
                <a:solidFill>
                  <a:srgbClr val="D5DBDB"/>
                </a:solidFill>
                <a:latin typeface="Arial"/>
              </a:rPr>
              <a:t>The grade, how sure it is, the exact defects and their severity, and an overall damage score.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FF9900"/>
                </a:solidFill>
                <a:latin typeface="Arial"/>
              </a:rPr>
              <a:t>•  </a:t>
            </a:r>
            <a:r>
              <a:rPr sz="1400" b="1" i="0">
                <a:solidFill>
                  <a:srgbClr val="FFFFFF"/>
                </a:solidFill>
                <a:latin typeface="Arial"/>
              </a:rPr>
              <a:t>Taught on real + fake damage. </a:t>
            </a:r>
            <a:r>
              <a:rPr sz="1400" b="0" i="0">
                <a:solidFill>
                  <a:srgbClr val="D5DBDB"/>
                </a:solidFill>
                <a:latin typeface="Arial"/>
              </a:rPr>
              <a:t>Clean Amazon catalog photos, computer-made damage with known labels, and real-world defect datasets.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400" b="1" i="0">
                <a:solidFill>
                  <a:srgbClr val="FF9900"/>
                </a:solidFill>
                <a:latin typeface="Arial"/>
              </a:rPr>
              <a:t>•  </a:t>
            </a:r>
            <a:r>
              <a:rPr sz="1400" b="1" i="0">
                <a:solidFill>
                  <a:srgbClr val="FFFFFF"/>
                </a:solidFill>
                <a:latin typeface="Arial"/>
              </a:rPr>
              <a:t>Honest, not just confident. </a:t>
            </a:r>
            <a:r>
              <a:rPr sz="1400" b="0" i="0">
                <a:solidFill>
                  <a:srgbClr val="D5DBDB"/>
                </a:solidFill>
                <a:latin typeface="Arial"/>
              </a:rPr>
              <a:t>It's calibrated — “80% sure” really means 80%. We cut its over-confidence by about 75%.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737360"/>
            <a:ext cx="4983480" cy="233172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9385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9900"/>
                </a:solidFill>
                <a:latin typeface="Arial"/>
              </a:rPr>
              <a:t>What the model hands 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2395728"/>
            <a:ext cx="4434840" cy="1463040"/>
          </a:xfrm>
          <a:prstGeom prst="roundRect">
            <a:avLst>
              <a:gd name="adj" fmla="val 6000"/>
            </a:avLst>
          </a:prstGeom>
          <a:solidFill>
            <a:srgbClr val="0C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578608"/>
            <a:ext cx="4114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CFE8D6"/>
                </a:solidFill>
                <a:latin typeface="Consolas"/>
              </a:rPr>
              <a:t>grade:       70% A · 22% B · 8% C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5DC8E8"/>
                </a:solidFill>
                <a:latin typeface="Consolas"/>
              </a:rPr>
              <a:t>confidence:  0.91   (calibrated)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CFE8D6"/>
                </a:solidFill>
                <a:latin typeface="Consolas"/>
              </a:rPr>
              <a:t>defects:     scratched screen · torn box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>
                <a:solidFill>
                  <a:srgbClr val="CFE8D6"/>
                </a:solidFill>
                <a:latin typeface="Consolas"/>
              </a:rPr>
              <a:t>damage:      0.12 overall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4206240"/>
            <a:ext cx="4983480" cy="169164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43891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9900"/>
                </a:solidFill>
                <a:latin typeface="Arial"/>
              </a:rPr>
              <a:t>Two things an API can't 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800600"/>
            <a:ext cx="4526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Reference check: </a:t>
            </a:r>
            <a:r>
              <a:rPr sz="1250" b="0" i="0">
                <a:solidFill>
                  <a:srgbClr val="D5DBDB"/>
                </a:solidFill>
                <a:latin typeface="Arial"/>
              </a:rPr>
              <a:t>matches the returned item to its original catalog photo + reads the serial — catches swaps &amp; fakes.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Flywheel: </a:t>
            </a:r>
            <a:r>
              <a:rPr sz="1250" b="0" i="0">
                <a:solidFill>
                  <a:srgbClr val="D5DBDB"/>
                </a:solidFill>
                <a:latin typeface="Arial"/>
              </a:rPr>
              <a:t>every human check at the hub is a free training label — it gets better just by doing the job.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UNDER THE HOOD — PRICE &amp; BUYERS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A living price — and buyers found in priority order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349240" cy="416052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9900"/>
                </a:solidFill>
                <a:latin typeface="Arial"/>
              </a:rPr>
              <a:t>The price never sits still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95728"/>
            <a:ext cx="4800600" cy="566928"/>
          </a:xfrm>
          <a:prstGeom prst="roundRect">
            <a:avLst>
              <a:gd name="adj" fmla="val 6000"/>
            </a:avLst>
          </a:prstGeom>
          <a:solidFill>
            <a:srgbClr val="0C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32304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8D6"/>
                </a:solidFill>
                <a:latin typeface="Consolas"/>
              </a:rPr>
              <a:t>price = base × condition × demand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E8D6"/>
                </a:solidFill>
                <a:latin typeface="Consolas"/>
              </a:rPr>
              <a:t>        × urgency ×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48463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• 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Real local demand, </a:t>
            </a:r>
            <a:r>
              <a:rPr sz="1250" b="0" i="0">
                <a:solidFill>
                  <a:srgbClr val="D5DBDB"/>
                </a:solidFill>
                <a:latin typeface="Arial"/>
              </a:rPr>
              <a:t>a regional demand index refreshed hourly from what buyers actually search, view and buy nearby.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• 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Racing the clock, </a:t>
            </a:r>
            <a:r>
              <a:rPr sz="1250" b="0" i="0">
                <a:solidFill>
                  <a:srgbClr val="D5DBDB"/>
                </a:solidFill>
                <a:latin typeface="Arial"/>
              </a:rPr>
              <a:t>urgency climbs as the pickup window closes, so the price adapts on its own.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• 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A pricing agent, </a:t>
            </a:r>
            <a:r>
              <a:rPr sz="1250" b="0" i="0">
                <a:solidFill>
                  <a:srgbClr val="D5DBDB"/>
                </a:solidFill>
                <a:latin typeface="Arial"/>
              </a:rPr>
              <a:t>XGBoost + a bandit nudges the listed price toward what similar items are truly selling for — a warehouse queue can't.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349240" cy="416052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5349240" cy="109728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385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9900"/>
                </a:solidFill>
                <a:latin typeface="Arial"/>
              </a:rPr>
              <a:t>We notify buyers in order — not all at once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432304"/>
            <a:ext cx="4800600" cy="457200"/>
          </a:xfrm>
          <a:prstGeom prst="roundRect">
            <a:avLst>
              <a:gd name="adj" fmla="val 6000"/>
            </a:avLst>
          </a:prstGeom>
          <a:solidFill>
            <a:srgbClr val="0C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505456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DC8E8"/>
                </a:solidFill>
                <a:latin typeface="Consolas"/>
              </a:rPr>
              <a:t>score = .30 near + .35 intent + .20 fit + .15 recency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63240"/>
            <a:ext cx="48920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• 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Intent leads, </a:t>
            </a:r>
            <a:r>
              <a:rPr sz="1250" b="0" i="0">
                <a:solidFill>
                  <a:srgbClr val="D5DBDB"/>
                </a:solidFill>
                <a:latin typeface="Arial"/>
              </a:rPr>
              <a:t>who already searched, wishlisted, or bought similar things nearby ranks highest.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• 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Notify #1 first, </a:t>
            </a:r>
            <a:r>
              <a:rPr sz="1250" b="0" i="0">
                <a:solidFill>
                  <a:srgbClr val="D5DBDB"/>
                </a:solidFill>
                <a:latin typeface="Arial"/>
              </a:rPr>
              <a:t>if they don't bite in the window, it cascades to #2, #3… automatically — a job that runs every 30 min and survives restarts.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•  </a:t>
            </a:r>
            <a:r>
              <a:rPr sz="1250" b="1" i="0">
                <a:solidFill>
                  <a:srgbClr val="FFFFFF"/>
                </a:solidFill>
                <a:latin typeface="Arial"/>
              </a:rPr>
              <a:t>Fair matches only, </a:t>
            </a:r>
            <a:r>
              <a:rPr sz="1250" b="0" i="0">
                <a:solidFill>
                  <a:srgbClr val="D5DBDB"/>
                </a:solidFill>
                <a:latin typeface="Arial"/>
              </a:rPr>
              <a:t>within 10 km, same city, and inside each buyer's budget and condition floor.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UNDER THE HOOD — THE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One deterministic engine, re-run at every checkpoint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881360" cy="96012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 w="1587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9900"/>
                </a:solidFill>
                <a:latin typeface="Arial"/>
              </a:rPr>
              <a:t>For every path: </a:t>
            </a:r>
            <a:r>
              <a:rPr sz="1450" b="1" i="0">
                <a:solidFill>
                  <a:srgbClr val="FFFFFF"/>
                </a:solidFill>
                <a:latin typeface="Arial"/>
              </a:rPr>
              <a:t>value (across every possible grade × how fast it sells) − (shipping + handling + cost of being wrong) − carbon</a:t>
            </a:r>
            <a:r>
              <a:rPr sz="1450" b="0" i="0">
                <a:solidFill>
                  <a:srgbClr val="D5DBDB"/>
                </a:solidFill>
                <a:latin typeface="Arial"/>
              </a:rPr>
              <a:t>  →  pick the biggest number.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880360"/>
            <a:ext cx="3474720" cy="914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108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9900"/>
                </a:solidFill>
                <a:latin typeface="Arial"/>
              </a:rPr>
              <a:t>It thinks in probabilities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1188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5DBDB"/>
                </a:solidFill>
                <a:latin typeface="Arial"/>
              </a:rPr>
              <a:t>Not one guess — a whole distribution. Restock is punished hard for a wrong “A”; donating barely cares.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880360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880360"/>
            <a:ext cx="3474720" cy="914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3108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9900"/>
                </a:solidFill>
                <a:latin typeface="Arial"/>
              </a:rPr>
              <a:t>It prices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61188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5DBDB"/>
                </a:solidFill>
                <a:latin typeface="Arial"/>
              </a:rPr>
              <a:t>Weeks of warehouse waiting is a real cost line, so “sell it locally now” can beat “ship it and wait.”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2880360"/>
            <a:ext cx="3474720" cy="1783080"/>
          </a:xfrm>
          <a:prstGeom prst="roundRect">
            <a:avLst>
              <a:gd name="adj" fmla="val 6000"/>
            </a:avLst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2880360"/>
            <a:ext cx="3474720" cy="9144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1" y="3108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9900"/>
                </a:solidFill>
                <a:latin typeface="Arial"/>
              </a:rPr>
              <a:t>It prices being wrong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1" y="361188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D5DBDB"/>
                </a:solidFill>
                <a:latin typeface="Arial"/>
              </a:rPr>
              <a:t>The cost of a mistake on each path sets how confident the AI must be before that path is even allowed.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108813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FF9900"/>
                </a:solidFill>
                <a:latin typeface="Arial"/>
              </a:rPr>
              <a:t>•  </a:t>
            </a:r>
            <a:r>
              <a:rPr sz="1350" b="1" i="0">
                <a:solidFill>
                  <a:srgbClr val="FFFFFF"/>
                </a:solidFill>
                <a:latin typeface="Arial"/>
              </a:rPr>
              <a:t>Safety first. </a:t>
            </a:r>
            <a:r>
              <a:rPr sz="1350" b="0" i="0">
                <a:solidFill>
                  <a:srgbClr val="D5DBDB"/>
                </a:solidFill>
                <a:latin typeface="Arial"/>
              </a:rPr>
              <a:t>A hard rule ladder (counterfeit, hazmat, recall) runs before any money math and is never overridden.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FF9900"/>
                </a:solidFill>
                <a:latin typeface="Arial"/>
              </a:rPr>
              <a:t>•  </a:t>
            </a:r>
            <a:r>
              <a:rPr sz="1350" b="1" i="0">
                <a:solidFill>
                  <a:srgbClr val="FFFFFF"/>
                </a:solidFill>
                <a:latin typeface="Arial"/>
              </a:rPr>
              <a:t>Glass box. </a:t>
            </a:r>
            <a:r>
              <a:rPr sz="1350" b="0" i="0">
                <a:solidFill>
                  <a:srgbClr val="D5DBDB"/>
                </a:solidFill>
                <a:latin typeface="Arial"/>
              </a:rPr>
              <a:t>It's plain arithmetic and clear rules — the AI only writes the one-line reason. And it re-runs at pickup and at the hub as the evidence improves.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310896"/>
            <a:ext cx="502920" cy="54864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9900"/>
                </a:solidFill>
                <a:latin typeface="Arial"/>
              </a:rPr>
              <a:t>BUILT TO SCALE ON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How this runs at Amazon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834640" cy="516635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The piece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1645920"/>
            <a:ext cx="8046720" cy="516635"/>
          </a:xfrm>
          <a:prstGeom prst="rect">
            <a:avLst/>
          </a:prstGeom>
          <a:solidFill>
            <a:srgbClr val="EC72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50" b="1">
                <a:solidFill>
                  <a:srgbClr val="FFFFFF"/>
                </a:solidFill>
                <a:latin typeface="Arial"/>
              </a:rPr>
              <a:t>Rides on AWS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62555"/>
            <a:ext cx="2834640" cy="516635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The grading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2162555"/>
            <a:ext cx="8046720" cy="516635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SageMaker endpoints + Greengrass at the edge for true doorstep inference; Bedrock vision for narration &amp; fallback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79190"/>
            <a:ext cx="2834640" cy="516635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Photos &amp; Health Cards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679190"/>
            <a:ext cx="8046720" cy="516635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S3 — with Rekognition redacting faces and addresses right at the upload boundary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95825"/>
            <a:ext cx="2834640" cy="516635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The decision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195825"/>
            <a:ext cx="8046720" cy="516635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Stateless Lambda — a pure, replayable function that scales out flat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12460"/>
            <a:ext cx="2834640" cy="516635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The return's journey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3712460"/>
            <a:ext cx="8046720" cy="516635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Step Functions + EventBridge fire the engine at each checkpoint; item state in DynamoDB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29095"/>
            <a:ext cx="2834640" cy="516635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Pricing &amp; buyer matching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4229095"/>
            <a:ext cx="8046720" cy="516635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Hourly batch demand index, live price on read; EventBridge Scheduler + geo DynamoDB drive the cascade, SNS / Pinpoint send the alerts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745730"/>
            <a:ext cx="2834640" cy="516635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When the AI's unsure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4745730"/>
            <a:ext cx="8046720" cy="516635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Amazon A2I human-review queues; CloudWatch + SageMaker Model Monitor watch for drift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62365"/>
            <a:ext cx="2834640" cy="516635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Getting smarter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5262365"/>
            <a:ext cx="8046720" cy="516635"/>
          </a:xfrm>
          <a:prstGeom prst="rect">
            <a:avLst/>
          </a:prstGeom>
          <a:solidFill>
            <a:srgbClr val="2C3A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12700" bIns="12700"/>
          <a:lstStyle/>
          <a:p>
            <a:pPr algn="l"/>
            <a:r>
              <a:rPr sz="1150" b="0">
                <a:solidFill>
                  <a:srgbClr val="D5DBDB"/>
                </a:solidFill>
                <a:latin typeface="Arial"/>
              </a:rPr>
              <a:t>Hub verdicts stream to a Feature Store / S3 data lake → periodic retraining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70448"/>
            <a:ext cx="10881360" cy="502920"/>
          </a:xfrm>
          <a:prstGeom prst="roundRect">
            <a:avLst>
              <a:gd name="adj" fmla="val 6000"/>
            </a:avLst>
          </a:prstGeom>
          <a:solidFill>
            <a:srgbClr val="232F3E"/>
          </a:solidFill>
          <a:ln w="1587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6188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Every piece is stateless or event-driven — it rides Amazon's existing trucks, stations and stores. No new hardware, no new buildings.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9900"/>
                </a:solidFill>
                <a:latin typeface="Arial"/>
              </a:rPr>
              <a:t>ReLoop</a:t>
            </a:r>
            <a:r>
              <a:rPr sz="900" b="0" i="0">
                <a:solidFill>
                  <a:srgbClr val="9BA7B0"/>
                </a:solidFill>
                <a:latin typeface="Arial"/>
              </a:rPr>
              <a:t>  ·  grade at the doorstep, decide before the item moves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BA7B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201</cp:revision>
  <dcterms:created xsi:type="dcterms:W3CDTF">2013-01-27T09:14:16Z</dcterms:created>
  <dcterms:modified xsi:type="dcterms:W3CDTF">2026-07-05T10:17:48Z</dcterms:modified>
  <cp:category/>
</cp:coreProperties>
</file>
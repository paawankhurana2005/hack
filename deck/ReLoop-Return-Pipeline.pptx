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9900"/>
                </a:solidFill>
                <a:latin typeface="Arial"/>
              </a:rPr>
              <a:t>AMAZON HACKATHON  ·  RETURN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200" b="1" i="0">
                <a:solidFill>
                  <a:srgbClr val="FFFFFF"/>
                </a:solidFill>
                <a:latin typeface="Arial"/>
              </a:rPr>
              <a:t>ReLoop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0" i="0">
                <a:solidFill>
                  <a:srgbClr val="D5DBDB"/>
                </a:solidFill>
                <a:latin typeface="Arial"/>
              </a:rPr>
              <a:t>The intelligence layer for Amazon's returns pipeline.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0" i="0">
                <a:solidFill>
                  <a:srgbClr val="D5DBDB"/>
                </a:solidFill>
                <a:latin typeface="Arial"/>
              </a:rPr>
              <a:t>Grade at the doorstep — decide the item's best next life </a:t>
            </a:r>
            <a:r>
              <a:rPr sz="2600" b="1" i="0">
                <a:solidFill>
                  <a:srgbClr val="FF9900"/>
                </a:solidFill>
                <a:latin typeface="Arial"/>
              </a:rPr>
              <a:t>before it moves.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9BA7B0"/>
                </a:solidFill>
                <a:latin typeface="Arial"/>
              </a:rPr>
              <a:t>“The landfill is a design flaw.”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BA7B0"/>
                </a:solidFill>
                <a:latin typeface="Arial"/>
              </a:rPr>
              <a:t>Deterministic glass-box routing engine  ·  our own DINOv2 grader  ·  Product Health Card  ·  live at </a:t>
            </a:r>
            <a:r>
              <a:rPr sz="1200" b="1" i="0">
                <a:solidFill>
                  <a:srgbClr val="5DC8E8"/>
                </a:solidFill>
                <a:latin typeface="Arial"/>
              </a:rPr>
              <a:t>reloop-woad.vercel.app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Amazon already resells returns — but decides at the worst moment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D5DBDB"/>
                </a:solidFill>
                <a:latin typeface="Arial"/>
              </a:rPr>
              <a:t>Renewed · Resale · Grade-and-Resell all grade </a:t>
            </a:r>
            <a:r>
              <a:rPr sz="1500" b="1" i="0">
                <a:solidFill>
                  <a:srgbClr val="FF9900"/>
                </a:solidFill>
                <a:latin typeface="Arial"/>
              </a:rPr>
              <a:t>AFTER</a:t>
            </a:r>
            <a:r>
              <a:rPr sz="1500" b="0" i="0">
                <a:solidFill>
                  <a:srgbClr val="D5DBDB"/>
                </a:solidFill>
                <a:latin typeface="Arial"/>
              </a:rPr>
              <a:t> the linehaul. Every leg is spent, weeks of value decay — </a:t>
            </a:r>
            <a:r>
              <a:rPr sz="1500" b="1" i="0">
                <a:solidFill>
                  <a:srgbClr val="FF9900"/>
                </a:solidFill>
                <a:latin typeface="Arial"/>
              </a:rPr>
              <a:t>then</a:t>
            </a:r>
            <a:r>
              <a:rPr sz="1500" b="0" i="0">
                <a:solidFill>
                  <a:srgbClr val="D5DBDB"/>
                </a:solidFill>
                <a:latin typeface="Arial"/>
              </a:rPr>
              <a:t> anyone decides what the item is worth.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3566160" cy="43434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Leg (today's journey)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2286000"/>
            <a:ext cx="3200400" cy="43434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Cost / dwell accrued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2286000"/>
            <a:ext cx="4114800" cy="434340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ReLoop's effect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20340"/>
            <a:ext cx="3566160" cy="434340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1  Click Return → label issued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720340"/>
            <a:ext cx="3200400" cy="434340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2720340"/>
            <a:ext cx="4114800" cy="434340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Grades HERE, routes before anything moves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54680"/>
            <a:ext cx="3566160" cy="43434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2  Pickup → delivery station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3154680"/>
            <a:ext cx="3200400" cy="43434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Last-mile (spent either way)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3154680"/>
            <a:ext cx="4114800" cy="43434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Driver checkpoint rides along free; local items STOP here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89020"/>
            <a:ext cx="3566160" cy="434340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3  Station → sortation center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3589020"/>
            <a:ext cx="3200400" cy="434340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First avoidable leg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3589020"/>
            <a:ext cx="4114800" cy="434340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DELETED for local routes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023360"/>
            <a:ext cx="3566160" cy="43434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4  Sortation → RLC linehaul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4023360"/>
            <a:ext cx="3200400" cy="43434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The big 580 km freight leg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4023360"/>
            <a:ext cx="4114800" cy="43434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DELETED for local routes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457700"/>
            <a:ext cx="3566160" cy="434340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5  RLC queue → inspection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4457700"/>
            <a:ext cx="3200400" cy="434340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Days-to-weeks of dwell = decay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4457700"/>
            <a:ext cx="4114800" cy="434340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Replaced by a 10-min hub bench in-city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892040"/>
            <a:ext cx="3566160" cy="43434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6  Manual grade → disposition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4892040"/>
            <a:ext cx="3200400" cy="43434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Decision made LAST, costs sunk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4892040"/>
            <a:ext cx="4114800" cy="43434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Made FIRST (stage 0–3), re-checked at checkpoints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326380"/>
            <a:ext cx="3566160" cy="434340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7  Execute (often a 2nd linehaul)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5326380"/>
            <a:ext cx="3200400" cy="434340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Another leg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5326380"/>
            <a:ext cx="4114800" cy="434340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Restock → nearest FC; pallets batch at the hub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9900"/>
                </a:solidFill>
                <a:latin typeface="Arial"/>
              </a:rPr>
              <a:t>Net today: </a:t>
            </a:r>
            <a:r>
              <a:rPr sz="1300" b="0" i="0">
                <a:solidFill>
                  <a:srgbClr val="D5DBDB"/>
                </a:solidFill>
                <a:latin typeface="Arial"/>
              </a:rPr>
              <a:t>5–7 touches · 2–6 weeks · only </a:t>
            </a:r>
            <a:r>
              <a:rPr sz="1300" b="1" i="0">
                <a:solidFill>
                  <a:srgbClr val="FFFFFF"/>
                </a:solidFill>
                <a:latin typeface="Arial"/>
              </a:rPr>
              <a:t>10–20% ever restocked</a:t>
            </a:r>
            <a:r>
              <a:rPr sz="1300" b="0" i="0">
                <a:solidFill>
                  <a:srgbClr val="D5DBDB"/>
                </a:solidFill>
                <a:latin typeface="Arial"/>
              </a:rPr>
              <a:t>. Every leg from #3 on is avoidable — if the decision exists before leg #3.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the intelligence layer for Amazon's returns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A7B0"/>
                </a:solidFill>
                <a:latin typeface="Arial"/>
              </a:rPr>
              <a:t>PROBLEM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Information-timing arbitrage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1">
                <a:solidFill>
                  <a:srgbClr val="FFFFFF"/>
                </a:solidFill>
                <a:latin typeface="Arial"/>
              </a:rPr>
              <a:t>Information only has value if it changes a decision before money is spent.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D5DBDB"/>
                </a:solidFill>
                <a:latin typeface="Arial"/>
              </a:rPr>
              <a:t>Use </a:t>
            </a:r>
            <a:r>
              <a:rPr sz="1500" b="1" i="0">
                <a:solidFill>
                  <a:srgbClr val="FF9900"/>
                </a:solidFill>
                <a:latin typeface="Arial"/>
              </a:rPr>
              <a:t>noisier information (doorstep photos)</a:t>
            </a:r>
            <a:r>
              <a:rPr sz="1500" b="0" i="0">
                <a:solidFill>
                  <a:srgbClr val="D5DBDB"/>
                </a:solidFill>
                <a:latin typeface="Arial"/>
              </a:rPr>
              <a:t> at the moment of maximum leverage, instead of </a:t>
            </a:r>
            <a:r>
              <a:rPr sz="1500" b="1" i="0">
                <a:solidFill>
                  <a:srgbClr val="5DC8E8"/>
                </a:solidFill>
                <a:latin typeface="Arial"/>
              </a:rPr>
              <a:t>perfect information (physical inspection)</a:t>
            </a:r>
            <a:r>
              <a:rPr sz="1500" b="0" i="0">
                <a:solidFill>
                  <a:srgbClr val="D5DBDB"/>
                </a:solidFill>
                <a:latin typeface="Arial"/>
              </a:rPr>
              <a:t> after every cost is already sunk. Inspection still happens — it just moves to the cheapest node that precedes irreversibility.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49039"/>
            <a:ext cx="5257800" cy="228600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20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WHY RETURN, NOT TRADE-IN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34840"/>
            <a:ext cx="4800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▸  </a:t>
            </a:r>
            <a:r>
              <a:rPr sz="1250" b="1" i="0">
                <a:solidFill>
                  <a:srgbClr val="FFFFFF"/>
                </a:solidFill>
                <a:latin typeface="Arial"/>
              </a:rPr>
              <a:t>Trade-In: </a:t>
            </a:r>
            <a:r>
              <a:rPr sz="1250" b="0" i="0">
                <a:solidFill>
                  <a:srgbClr val="D5DBDB"/>
                </a:solidFill>
                <a:latin typeface="Arial"/>
              </a:rPr>
              <a:t>destination is fixed (Amazon's facility) whatever the grade — doorstep AI changes nothing physical. Pure cost.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▸  </a:t>
            </a:r>
            <a:r>
              <a:rPr sz="1250" b="1" i="0">
                <a:solidFill>
                  <a:srgbClr val="FFFFFF"/>
                </a:solidFill>
                <a:latin typeface="Arial"/>
              </a:rPr>
              <a:t>Return: </a:t>
            </a:r>
            <a:r>
              <a:rPr sz="1250" b="0" i="0">
                <a:solidFill>
                  <a:srgbClr val="D5DBDB"/>
                </a:solidFill>
                <a:latin typeface="Arial"/>
              </a:rPr>
              <a:t>the destination IS the decision. Doorstep AI changes where the item physically goes.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749039"/>
            <a:ext cx="5257800" cy="228600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95020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BOUNDED DOWNSIDE BY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434840"/>
            <a:ext cx="4800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▸  </a:t>
            </a:r>
            <a:r>
              <a:rPr sz="1250" b="0" i="0">
                <a:solidFill>
                  <a:srgbClr val="D5DBDB"/>
                </a:solidFill>
                <a:latin typeface="Arial"/>
              </a:rPr>
              <a:t>Every wrong local decision degrades to “send it up the chain” — what happens to 100% of items today.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▸  </a:t>
            </a:r>
            <a:r>
              <a:rPr sz="1250" b="1" i="0">
                <a:solidFill>
                  <a:srgbClr val="FFFFFF"/>
                </a:solidFill>
                <a:latin typeface="Arial"/>
              </a:rPr>
              <a:t>The bar: </a:t>
            </a:r>
            <a:r>
              <a:rPr sz="1250" b="0" i="0">
                <a:solidFill>
                  <a:srgbClr val="D5DBDB"/>
                </a:solidFill>
                <a:latin typeface="Arial"/>
              </a:rPr>
              <a:t>P(correct)·savings &gt; P(wrong)·correction. Correction = a shelf move at a hub, not a lost item.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the intelligence layer for Amazon's returns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A7B0"/>
                </a:solidFill>
                <a:latin typeface="Arial"/>
              </a:rPr>
              <a:t>INSIGHT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THE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Grade at the source. Decide before the item moves.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D5DBDB"/>
                </a:solidFill>
                <a:latin typeface="Arial"/>
              </a:rPr>
              <a:t>Amazon's current workflow is the engine's </a:t>
            </a:r>
            <a:r>
              <a:rPr sz="1700" b="1" i="0">
                <a:solidFill>
                  <a:srgbClr val="FF9900"/>
                </a:solidFill>
                <a:latin typeface="Arial"/>
              </a:rPr>
              <a:t>fallback</a:t>
            </a:r>
            <a:r>
              <a:rPr sz="1700" b="0" i="0">
                <a:solidFill>
                  <a:srgbClr val="D5DBDB"/>
                </a:solidFill>
                <a:latin typeface="Arial"/>
              </a:rPr>
              <a:t>, not its competitor. We are the missing front end of programs Amazon already runs.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3474720" cy="29260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743200"/>
            <a:ext cx="3474720" cy="10972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Decide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2971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5DBDB"/>
                </a:solidFill>
                <a:latin typeface="Arial"/>
              </a:rPr>
              <a:t>The route is chosen at stage 0–3 — at the doorstep — then re-checked at two physical checkpoints while redirect is still cheap.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743200"/>
            <a:ext cx="3474720" cy="29260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743200"/>
            <a:ext cx="3474720" cy="10972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306324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Delete the legs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794760"/>
            <a:ext cx="2971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5DBDB"/>
                </a:solidFill>
                <a:latin typeface="Arial"/>
              </a:rPr>
              <a:t>Locally-routed items stop at the in-city delivery station. Zero new transport legs added; sortation + 580 km linehaul deleted.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2743200"/>
            <a:ext cx="3474720" cy="29260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9" y="2743200"/>
            <a:ext cx="3474720" cy="10972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39" y="306324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Glass-box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9" y="3794760"/>
            <a:ext cx="2971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5DBDB"/>
                </a:solidFill>
                <a:latin typeface="Arial"/>
              </a:rPr>
              <a:t>One deterministic expected-value optimizer. Logic decides, the LLM only narrates. Every destroy has a replayable reason.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the intelligence layer for Amazon's returns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A7B0"/>
                </a:solidFill>
                <a:latin typeface="Arial"/>
              </a:rPr>
              <a:t>THESIS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Four pillars · ML for perception, rules for the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2578608" cy="233172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9900"/>
                </a:solidFill>
                <a:latin typeface="Arial"/>
              </a:rPr>
              <a:t>AI Grading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148840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9BA7B0"/>
                </a:solidFill>
                <a:latin typeface="Arial"/>
              </a:rPr>
              <a:t>“the eyes”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542032"/>
            <a:ext cx="2240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D5DBDB"/>
                </a:solidFill>
                <a:latin typeface="Arial"/>
              </a:rPr>
              <a:t>Our own DINOv2 grader → a grade DISTRIBUTION + defect tags. VLM narrates defects; OCR anchors identity.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1600200"/>
            <a:ext cx="2578608" cy="233172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2736" y="17830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9900"/>
                </a:solidFill>
                <a:latin typeface="Arial"/>
              </a:rPr>
              <a:t>Smart 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2736" y="2148840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9BA7B0"/>
                </a:solidFill>
                <a:latin typeface="Arial"/>
              </a:rPr>
              <a:t>“the brain”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2736" y="2542032"/>
            <a:ext cx="2240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D5DBDB"/>
                </a:solidFill>
                <a:latin typeface="Arial"/>
              </a:rPr>
              <a:t>Deterministic, explainable EV engine over {value, cost, demand, carbon}. Glass-box on purpose.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600200"/>
            <a:ext cx="2578608" cy="233172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7830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9900"/>
                </a:solidFill>
                <a:latin typeface="Arial"/>
              </a:rPr>
              <a:t>Health 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148840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9BA7B0"/>
                </a:solidFill>
                <a:latin typeface="Arial"/>
              </a:rPr>
              <a:t>“the trust”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542032"/>
            <a:ext cx="2240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D5DBDB"/>
                </a:solidFill>
                <a:latin typeface="Arial"/>
              </a:rPr>
              <a:t>Verifiable condition, history &amp; authenticity that travels with the item to its next owner. CARFAX for a product.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24544" y="1600200"/>
            <a:ext cx="2578608" cy="233172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5712" y="17830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9900"/>
                </a:solidFill>
                <a:latin typeface="Arial"/>
              </a:rPr>
              <a:t>Prevention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2148840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9BA7B0"/>
                </a:solidFill>
                <a:latin typeface="Arial"/>
              </a:rPr>
              <a:t>“the upstream”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2542032"/>
            <a:ext cx="2240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D5DBDB"/>
                </a:solidFill>
                <a:latin typeface="Arial"/>
              </a:rPr>
              <a:t>Predict returns before they happen — the cheapest return is the one that never occurs.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1605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THE STACK — pnpm monorepo, strict TypeScript, no  any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98848"/>
            <a:ext cx="10881360" cy="420624"/>
          </a:xfrm>
          <a:prstGeom prst="roundRect">
            <a:avLst>
              <a:gd name="adj" fmla="val 6000"/>
            </a:avLst>
          </a:prstGeom>
          <a:solidFill>
            <a:srgbClr val="37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553712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DC8E8"/>
                </a:solidFill>
                <a:latin typeface="Consolas"/>
              </a:rPr>
              <a:t>apps/web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572000"/>
            <a:ext cx="8229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5DBDB"/>
                </a:solidFill>
                <a:latin typeface="Arial"/>
              </a:rPr>
              <a:t>Next.js App Router + Tailwind — Return flow, Hub Bench, Shop, seller dashboard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983480"/>
            <a:ext cx="10881360" cy="420624"/>
          </a:xfrm>
          <a:prstGeom prst="roundRect">
            <a:avLst>
              <a:gd name="adj" fmla="val 6000"/>
            </a:avLst>
          </a:prstGeom>
          <a:solidFill>
            <a:srgbClr val="37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038344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EC48D"/>
                </a:solidFill>
                <a:latin typeface="Consolas"/>
              </a:rPr>
              <a:t>apps/api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5056632"/>
            <a:ext cx="8229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5DBDB"/>
                </a:solidFill>
                <a:latin typeface="Arial"/>
              </a:rPr>
              <a:t>Node + Express — grading, /api/route + /api/return/checkpoint, pricing, matching cron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468112"/>
            <a:ext cx="10881360" cy="420624"/>
          </a:xfrm>
          <a:prstGeom prst="roundRect">
            <a:avLst>
              <a:gd name="adj" fmla="val 6000"/>
            </a:avLst>
          </a:prstGeom>
          <a:solidFill>
            <a:srgbClr val="37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522976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Consolas"/>
              </a:rPr>
              <a:t>packages/shared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5541264"/>
            <a:ext cx="8229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5DBDB"/>
                </a:solidFill>
                <a:latin typeface="Arial"/>
              </a:rPr>
              <a:t>Single source of truth for data contracts: routing-ev.ts, liquidation-lot.ts, return.ts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952744"/>
            <a:ext cx="10881360" cy="420624"/>
          </a:xfrm>
          <a:prstGeom prst="roundRect">
            <a:avLst>
              <a:gd name="adj" fmla="val 6000"/>
            </a:avLst>
          </a:prstGeom>
          <a:solidFill>
            <a:srgbClr val="37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6007608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9BA7B0"/>
                </a:solidFill>
                <a:latin typeface="Consolas"/>
              </a:rPr>
              <a:t>ml/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6025896"/>
            <a:ext cx="8229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5DBDB"/>
                </a:solidFill>
                <a:latin typeface="Arial"/>
              </a:rPr>
              <a:t>DINOv2 grader (perception) · XGBoost + Thompson-bandit pricing (spec 014) · return-risk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the intelligence layer for Amazon's returns pipeline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A7B0"/>
                </a:solidFill>
                <a:latin typeface="Arial"/>
              </a:rPr>
              <a:t>ARCH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THE DECISION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One expected-value optimization, per returned item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10881360" cy="1783080"/>
          </a:xfrm>
          <a:prstGeom prst="roundRect">
            <a:avLst>
              <a:gd name="adj" fmla="val 6000"/>
            </a:avLst>
          </a:prstGeom>
          <a:solidFill>
            <a:srgbClr val="0C1218"/>
          </a:solidFill>
          <a:ln w="15875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10512"/>
            <a:ext cx="10241280" cy="4572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onsolas"/>
              </a:rPr>
              <a:t>EV(r) = Σ</a:t>
            </a:r>
            <a:r>
              <a:rPr sz="1200" b="1" i="0">
                <a:solidFill>
                  <a:srgbClr val="FF9900"/>
                </a:solidFill>
                <a:latin typeface="Consolas"/>
              </a:rPr>
              <a:t>g</a:t>
            </a:r>
            <a:r>
              <a:rPr sz="2000" b="1" i="0">
                <a:solidFill>
                  <a:srgbClr val="FFFFFF"/>
                </a:solidFill>
                <a:latin typeface="Consolas"/>
              </a:rPr>
              <a:t> P(g│evidence)·recovery(r,g)·decay(t</a:t>
            </a:r>
            <a:r>
              <a:rPr sz="1200" b="1" i="0">
                <a:solidFill>
                  <a:srgbClr val="FF9900"/>
                </a:solidFill>
                <a:latin typeface="Consolas"/>
              </a:rPr>
              <a:t>r</a:t>
            </a:r>
            <a:r>
              <a:rPr sz="2000" b="1" i="0">
                <a:solidFill>
                  <a:srgbClr val="FFFFFF"/>
                </a:solidFill>
                <a:latin typeface="Consolas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95728"/>
            <a:ext cx="10241280" cy="4572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D5DBDB"/>
                </a:solidFill>
                <a:latin typeface="Consolas"/>
              </a:rPr>
              <a:t>        − logistics(r) − handling(r)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16352"/>
            <a:ext cx="10241280" cy="4572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D5DBDB"/>
                </a:solidFill>
                <a:latin typeface="Consolas"/>
              </a:rPr>
              <a:t>        − </a:t>
            </a:r>
            <a:r>
              <a:rPr sz="2000" b="1" i="0">
                <a:solidFill>
                  <a:srgbClr val="FF9900"/>
                </a:solidFill>
                <a:latin typeface="Consolas"/>
              </a:rPr>
              <a:t>E[correction_cost(r)]</a:t>
            </a:r>
            <a:r>
              <a:rPr sz="2000" b="0" i="0">
                <a:solidFill>
                  <a:srgbClr val="D5DBDB"/>
                </a:solidFill>
                <a:latin typeface="Consolas"/>
              </a:rPr>
              <a:t> − λ·CO₂(r)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9300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9BA7B0"/>
                </a:solidFill>
                <a:latin typeface="Consolas"/>
              </a:rPr>
              <a:t>Choose r ∈ {restock, local_resale, refurbish, liquidate, donate, recycle, warehouse, return_to_seller, returnless_refund}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THREE TERMS ARE THE UPGRADE OVER A NAÏVE ROUTER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61104"/>
            <a:ext cx="10881360" cy="6400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334256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P(g│evidence) — posterior, not a point grade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59943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D5DBDB"/>
                </a:solidFill>
                <a:latin typeface="Arial"/>
              </a:rPr>
              <a:t>Routes differ in error-sensitivity. Restock is brutal on a wrong A; donation barely cares. Recovery is an expectation over the grade distribution.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974336"/>
            <a:ext cx="10881360" cy="6400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04748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decay(t_r) — time is a P&amp;L 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31266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D5DBDB"/>
                </a:solidFill>
                <a:latin typeface="Arial"/>
              </a:rPr>
              <a:t>Each route has an expected time-to-cash; category-specific weekly decay makes the engine SEE that weeks of returns-center dwell burn money.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687568"/>
            <a:ext cx="10881360" cy="6400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76072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E[correction_cost(r)] — being wrong has a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025896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D5DBDB"/>
                </a:solidFill>
                <a:latin typeface="Arial"/>
              </a:rPr>
              <a:t>= (posterior mass below the grade the route needs) × that route's redirect cost. This is what makes the confidence gates θ_r derived, not hand-picked.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the intelligence layer for Amazon's returns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A7B0"/>
                </a:solidFill>
                <a:latin typeface="Arial"/>
              </a:rPr>
              <a:t>ENGINE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LAYER 1 OF 2 — NEVER OPTIMIZED 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The hard-constraint ladder (safety · legal · policy)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D5DBDB"/>
                </a:solidFill>
                <a:latin typeface="Arial"/>
              </a:rPr>
              <a:t>An ordered, first-match ladder evaluated </a:t>
            </a:r>
            <a:r>
              <a:rPr sz="1400" b="1" i="0">
                <a:solidFill>
                  <a:srgbClr val="FF9900"/>
                </a:solidFill>
                <a:latin typeface="Arial"/>
              </a:rPr>
              <a:t>before</a:t>
            </a:r>
            <a:r>
              <a:rPr sz="1400" b="0" i="0">
                <a:solidFill>
                  <a:srgbClr val="D5DBDB"/>
                </a:solidFill>
                <a:latin typeface="Arial"/>
              </a:rPr>
              <a:t> any EV math. It can force a path and is audited for 100% conformance every build.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7040880" cy="384048"/>
          </a:xfrm>
          <a:prstGeom prst="roundRect">
            <a:avLst>
              <a:gd name="adj" fmla="val 6000"/>
            </a:avLst>
          </a:prstGeom>
          <a:solidFill>
            <a:srgbClr val="37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9514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9900"/>
                </a:solidFill>
                <a:latin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286000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3P seller not opted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286000"/>
            <a:ext cx="2560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EC48D"/>
                </a:solidFill>
                <a:latin typeface="Arial"/>
              </a:rPr>
              <a:t>→ return_to_seller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97480"/>
            <a:ext cx="7040880" cy="384048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5234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9900"/>
                </a:solidFill>
                <a:latin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743200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counterfeit / not-as-described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743200"/>
            <a:ext cx="2560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EC48D"/>
                </a:solidFill>
                <a:latin typeface="Arial"/>
              </a:rPr>
              <a:t>→ return_to_seller (policy)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54680"/>
            <a:ext cx="7040880" cy="384048"/>
          </a:xfrm>
          <a:prstGeom prst="roundRect">
            <a:avLst>
              <a:gd name="adj" fmla="val 6000"/>
            </a:avLst>
          </a:prstGeom>
          <a:solidFill>
            <a:srgbClr val="37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0954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9900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200400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hazmat / restricted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200400"/>
            <a:ext cx="2560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EC48D"/>
                </a:solidFill>
                <a:latin typeface="Arial"/>
              </a:rPr>
              <a:t>→ recycle (certified disposal only)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11880"/>
            <a:ext cx="7040880" cy="384048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66674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9900"/>
                </a:solidFill>
                <a:latin typeface="Consola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657600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wrong item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657600"/>
            <a:ext cx="2560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EC48D"/>
                </a:solidFill>
                <a:latin typeface="Arial"/>
              </a:rPr>
              <a:t>→ warehouse (inventory reconciliation)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069080"/>
            <a:ext cx="7040880" cy="384048"/>
          </a:xfrm>
          <a:prstGeom prst="roundRect">
            <a:avLst>
              <a:gd name="adj" fmla="val 6000"/>
            </a:avLst>
          </a:prstGeom>
          <a:solidFill>
            <a:srgbClr val="37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12394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9900"/>
                </a:solidFill>
                <a:latin typeface="Consola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114800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authenticity mismatch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114800"/>
            <a:ext cx="2560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EC48D"/>
                </a:solidFill>
                <a:latin typeface="Arial"/>
              </a:rPr>
              <a:t>→ warehouse (manual verification)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526280"/>
            <a:ext cx="7040880" cy="384048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58114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9900"/>
                </a:solidFill>
                <a:latin typeface="Consola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572000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high-value + unverified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4572000"/>
            <a:ext cx="2560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EC48D"/>
                </a:solidFill>
                <a:latin typeface="Arial"/>
              </a:rPr>
              <a:t>→ warehouse (fraud/verification gate)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983480"/>
            <a:ext cx="7040880" cy="384048"/>
          </a:xfrm>
          <a:prstGeom prst="roundRect">
            <a:avLst>
              <a:gd name="adj" fmla="val 6000"/>
            </a:avLst>
          </a:prstGeom>
          <a:solidFill>
            <a:srgbClr val="37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03834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9900"/>
                </a:solidFill>
                <a:latin typeface="Consolas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5029200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reason ↔ grade mismatch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5029200"/>
            <a:ext cx="2560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EC48D"/>
                </a:solidFill>
                <a:latin typeface="Arial"/>
              </a:rPr>
              <a:t>→ warehouse (fraud review)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440680"/>
            <a:ext cx="7040880" cy="384048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49554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9900"/>
                </a:solidFill>
                <a:latin typeface="Consolas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5486400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salvage / ungradeable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5486400"/>
            <a:ext cx="2560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EC48D"/>
                </a:solidFill>
                <a:latin typeface="Arial"/>
              </a:rPr>
              <a:t>→ recycle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897880"/>
            <a:ext cx="7040880" cy="384048"/>
          </a:xfrm>
          <a:prstGeom prst="roundRect">
            <a:avLst>
              <a:gd name="adj" fmla="val 6000"/>
            </a:avLst>
          </a:prstGeom>
          <a:solidFill>
            <a:srgbClr val="37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95274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9900"/>
                </a:solidFill>
                <a:latin typeface="Consolas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4440" y="5943600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arrived damaged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5943600"/>
            <a:ext cx="2560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EC48D"/>
                </a:solidFill>
                <a:latin typeface="Arial"/>
              </a:rPr>
              <a:t>→ recycle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55279" y="224028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 w="1905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5279" y="2496312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9900"/>
                </a:solidFill>
                <a:latin typeface="Arial"/>
              </a:rPr>
              <a:t>📸  PASTE SCREENSHOT HERE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599" y="2953512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9BA7B0"/>
                </a:solidFill>
                <a:latin typeface="Arial"/>
              </a:rPr>
              <a:t>Run:  </a:t>
            </a:r>
            <a:r>
              <a:rPr sz="1100" b="0" i="0">
                <a:solidFill>
                  <a:srgbClr val="CFE8D6"/>
                </a:solidFill>
                <a:latin typeface="Consolas"/>
              </a:rPr>
              <a:t>pnpm eval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599" y="3867912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D5DBDB"/>
                </a:solidFill>
                <a:latin typeface="Arial"/>
              </a:rPr>
              <a:t>Routing hard-rule conformance — forced-path accuracy 100.0% (N=8)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79" y="4617720"/>
            <a:ext cx="3566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9900"/>
                </a:solidFill>
                <a:latin typeface="Arial"/>
              </a:rPr>
              <a:t>Determinism is a business requirement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D5DBDB"/>
                </a:solidFill>
                <a:latin typeface="Arial"/>
              </a:rPr>
              <a:t>Every destroy and every denied local route needs a replayable reason for seller disputes and ESG audits. The ladder is that record.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the intelligence layer for Amazon's returns pipeline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A7B0"/>
                </a:solidFill>
                <a:latin typeface="Arial"/>
              </a:rPr>
              <a:t>ENGINE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LAYER 2 OF 2 — ARGMAX EV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Every path priced, every term signed — glass-box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5DBDB"/>
                </a:solidFill>
                <a:latin typeface="Arial"/>
              </a:rPr>
              <a:t>Sealed changed-mind electronics. The engine prices all 8 paths and picks the max. Restock wins — straight to the nearest FC, deleting the returns-center hop.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5852160" cy="3703320"/>
          </a:xfrm>
          <a:prstGeom prst="roundRect">
            <a:avLst>
              <a:gd name="adj" fmla="val 6000"/>
            </a:avLst>
          </a:prstGeom>
          <a:solidFill>
            <a:srgbClr val="0C1218"/>
          </a:solidFill>
          <a:ln w="12700">
            <a:solidFill>
              <a:srgbClr val="374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441448"/>
            <a:ext cx="100584" cy="100584"/>
          </a:xfrm>
          <a:prstGeom prst="ellipse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441448"/>
            <a:ext cx="100584" cy="100584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07008" y="2441448"/>
            <a:ext cx="100584" cy="100584"/>
          </a:xfrm>
          <a:prstGeom prst="ellipse">
            <a:avLst/>
          </a:prstGeom>
          <a:solidFill>
            <a:srgbClr val="2EC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423160"/>
            <a:ext cx="4754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A7B0"/>
                </a:solidFill>
                <a:latin typeface="Consolas"/>
              </a:rPr>
              <a:t>POST /api/route  →  evBreakdown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715768"/>
            <a:ext cx="5449824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9900"/>
                </a:solidFill>
                <a:latin typeface="Consolas"/>
              </a:rPr>
              <a:t>decision: restock        (localMargin ₹1,952)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D5DBDB"/>
                </a:solidFill>
                <a:latin typeface="Consolas"/>
              </a:rPr>
              <a:t/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2EC48D"/>
                </a:solidFill>
                <a:latin typeface="Consolas"/>
              </a:rPr>
              <a:t>restock         ₹1,956 ✓ CHOSEN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CFE8D6"/>
                </a:solidFill>
                <a:latin typeface="Consolas"/>
              </a:rPr>
              <a:t>  Restock at full recovery      +₹2,299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26D6D"/>
                </a:solidFill>
                <a:latin typeface="Consolas"/>
              </a:rPr>
              <a:t>  Grade uncertainty discount      −₹21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26D6D"/>
                </a:solidFill>
                <a:latin typeface="Consolas"/>
              </a:rPr>
              <a:t>  Value decay (4d to cash)        −₹26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26D6D"/>
                </a:solidFill>
                <a:latin typeface="Consolas"/>
              </a:rPr>
              <a:t>  FC inbound 45km                 −₹90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26D6D"/>
                </a:solidFill>
                <a:latin typeface="Consolas"/>
              </a:rPr>
              <a:t>  Receive + shelve               −₹150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26D6D"/>
                </a:solidFill>
                <a:latin typeface="Consolas"/>
              </a:rPr>
              <a:t>  Expected correction cost        −₹55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CFE8D6"/>
                </a:solidFill>
                <a:latin typeface="Consolas"/>
              </a:rPr>
              <a:t>local_resale    ₹1,952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9BA7B0"/>
                </a:solidFill>
                <a:latin typeface="Consolas"/>
              </a:rPr>
              <a:t>refurbish       ₹1,733  (not viable)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CFE8D6"/>
                </a:solidFill>
                <a:latin typeface="Consolas"/>
              </a:rPr>
              <a:t>liquidate         ₹893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CFE8D6"/>
                </a:solidFill>
                <a:latin typeface="Consolas"/>
              </a:rPr>
              <a:t>donate            ₹182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26D6D"/>
                </a:solidFill>
                <a:latin typeface="Consolas"/>
              </a:rPr>
              <a:t>warehouse        −₹465   ← today's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331720"/>
            <a:ext cx="4800600" cy="265176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 w="1905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587752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9900"/>
                </a:solidFill>
                <a:latin typeface="Arial"/>
              </a:rPr>
              <a:t>📸  PASTE SCREENSHOT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3044952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9BA7B0"/>
                </a:solidFill>
                <a:latin typeface="Arial"/>
              </a:rPr>
              <a:t>Run:  </a:t>
            </a:r>
            <a:r>
              <a:rPr sz="1100" b="0" i="0">
                <a:solidFill>
                  <a:srgbClr val="CFE8D6"/>
                </a:solidFill>
                <a:latin typeface="Consolas"/>
              </a:rPr>
              <a:t>curl /api/route  (Scenario 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4416552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D5DBDB"/>
                </a:solidFill>
                <a:latin typeface="Arial"/>
              </a:rPr>
              <a:t>The full evBreakdown JSON — every path's signed EV terms. This is the glass box.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5166360"/>
            <a:ext cx="4800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9900"/>
                </a:solidFill>
                <a:latin typeface="Arial"/>
              </a:rPr>
              <a:t>Warehouse is −₹465</a:t>
            </a:r>
            <a:r>
              <a:rPr sz="1300" b="0" i="0">
                <a:solidFill>
                  <a:srgbClr val="D5DBDB"/>
                </a:solidFill>
                <a:latin typeface="Arial"/>
              </a:rPr>
              <a:t> — the honest 580 km freight makes today's default the worst commercial option. Every better route is pure margin.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the intelligence layer for Amazon's returns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A7B0"/>
                </a:solidFill>
                <a:latin typeface="Arial"/>
              </a:rPr>
              <a:t>ENGINE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DECISION UNDER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Confidence gates θ_r — graceful degradation to today's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5DBDB"/>
                </a:solidFill>
                <a:latin typeface="Arial"/>
              </a:rPr>
              <a:t>θ_r is </a:t>
            </a:r>
            <a:r>
              <a:rPr sz="1350" b="1" i="0">
                <a:solidFill>
                  <a:srgbClr val="FF9900"/>
                </a:solidFill>
                <a:latin typeface="Arial"/>
              </a:rPr>
              <a:t>derived from correction cost</a:t>
            </a:r>
            <a:r>
              <a:rPr sz="1350" b="0" i="0">
                <a:solidFill>
                  <a:srgbClr val="D5DBDB"/>
                </a:solidFill>
                <a:latin typeface="Arial"/>
              </a:rPr>
              <a:t>, not arbitrary — its ordering mirrors redirect-cost ordering exactly. Low confidence collapses the eligible set toward the cheapest-to-correct path.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2286000" cy="420624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Route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2194560"/>
            <a:ext cx="1188720" cy="420624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θ_r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2194560"/>
            <a:ext cx="3200400" cy="420624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Redirect cost (why)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15184"/>
            <a:ext cx="2286000" cy="42062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restock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2615184"/>
            <a:ext cx="1188720" cy="42062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0.85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2615184"/>
            <a:ext cx="3200400" cy="42062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second return + trust (~₹700 on a ₹2.5k item)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35808"/>
            <a:ext cx="2286000" cy="42062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local_resale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3035808"/>
            <a:ext cx="1188720" cy="42062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0.60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3035808"/>
            <a:ext cx="3200400" cy="42062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hub shelf move (₹40)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56432"/>
            <a:ext cx="2286000" cy="42062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refurbish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3456432"/>
            <a:ext cx="1188720" cy="42062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0.50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3456432"/>
            <a:ext cx="3200400" cy="42062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wasted bench slot (₹80, pre-buyer)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877056"/>
            <a:ext cx="2286000" cy="42062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donate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3877056"/>
            <a:ext cx="1188720" cy="42062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0.30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3877056"/>
            <a:ext cx="3200400" cy="42062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being wrong is nearly free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297680"/>
            <a:ext cx="2286000" cy="42062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liquidate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4297680"/>
            <a:ext cx="1188720" cy="42062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0.20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4297680"/>
            <a:ext cx="3200400" cy="42062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pallet re-sort (₹15) — cheapest commercial gate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2286000" cy="42062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recycle / warehouse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4718304"/>
            <a:ext cx="1188720" cy="42062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ungated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4718304"/>
            <a:ext cx="3200400" cy="42062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the absolute fallback — always available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0" y="2194560"/>
            <a:ext cx="3931920" cy="246888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 w="1905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245059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9900"/>
                </a:solidFill>
                <a:latin typeface="Arial"/>
              </a:rPr>
              <a:t>📸  PASTE SCREENSHOT HERE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907792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9BA7B0"/>
                </a:solidFill>
                <a:latin typeface="Arial"/>
              </a:rPr>
              <a:t>Run:  </a:t>
            </a:r>
            <a:r>
              <a:rPr sz="1100" b="0" i="0">
                <a:solidFill>
                  <a:srgbClr val="CFE8D6"/>
                </a:solidFill>
                <a:latin typeface="Consolas"/>
              </a:rPr>
              <a:t>curl /api/route  (Scenario B)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096512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D5DBDB"/>
                </a:solidFill>
                <a:latin typeface="Arial"/>
              </a:rPr>
              <a:t>confidence 0.35 → local_resale &amp; refurbish GATED OUT; collapses to the liquidate pallet.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4846320"/>
            <a:ext cx="3931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9900"/>
                </a:solidFill>
                <a:latin typeface="Arial"/>
              </a:rPr>
              <a:t>The money line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D5DBDB"/>
                </a:solidFill>
                <a:latin typeface="Arial"/>
              </a:rPr>
              <a:t>A wrong grade on a manifested pallet costs ~₹15 to re-sort — vs a 580 km round trip. Low confidence collapses toward the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cheapest correction, not the most expensive one.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257800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9900"/>
                </a:solidFill>
                <a:latin typeface="Consolas"/>
              </a:rPr>
              <a:t>gateReason</a:t>
            </a:r>
            <a:r>
              <a:rPr sz="1250" b="0" i="0">
                <a:solidFill>
                  <a:srgbClr val="D5DBDB"/>
                </a:solidFill>
                <a:latin typeface="Arial"/>
              </a:rPr>
              <a:t> is returned per path, so the UI shows a path's full EV next to WHY it was gated — the glass box never hides the road not taken.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the intelligence layer for Amazon's returns pipeline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A7B0"/>
                </a:solidFill>
                <a:latin typeface="Arial"/>
              </a:rPr>
              <a:t>ENGINE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THE BACKBONE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A return is a lifecycle, not one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5DBDB"/>
                </a:solidFill>
                <a:latin typeface="Arial"/>
              </a:rPr>
              <a:t>The engine re-runs at every physical checkpoint — information improves and redirect cost rises as the item moves.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1645920" cy="640080"/>
          </a:xfrm>
          <a:prstGeom prst="roundRect">
            <a:avLst>
              <a:gd name="adj" fmla="val 6000"/>
            </a:avLst>
          </a:prstGeom>
          <a:solidFill>
            <a:srgbClr val="37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INITIATED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295144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9900"/>
                </a:solidFill>
                <a:latin typeface="Arial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50591" y="2148840"/>
            <a:ext cx="1645920" cy="640080"/>
          </a:xfrm>
          <a:prstGeom prst="roundRect">
            <a:avLst>
              <a:gd name="adj" fmla="val 6000"/>
            </a:avLst>
          </a:prstGeom>
          <a:solidFill>
            <a:srgbClr val="37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EVIDENCE_CAPTURED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96511" y="2295144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9900"/>
                </a:solidFill>
                <a:latin typeface="Arial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148840"/>
            <a:ext cx="1645920" cy="640080"/>
          </a:xfrm>
          <a:prstGeom prst="roundRect">
            <a:avLst>
              <a:gd name="adj" fmla="val 6000"/>
            </a:avLst>
          </a:prstGeom>
          <a:solidFill>
            <a:srgbClr val="37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ROUTED (TTL)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7024" y="2295144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9900"/>
                </a:solidFill>
                <a:latin typeface="Arial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2148840"/>
            <a:ext cx="1645920" cy="640080"/>
          </a:xfrm>
          <a:prstGeom prst="roundRect">
            <a:avLst>
              <a:gd name="adj" fmla="val 6000"/>
            </a:avLst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PICKUP_VERIFIED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7536" y="2295144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9900"/>
                </a:solidFill>
                <a:latin typeface="Arial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82127" y="2148840"/>
            <a:ext cx="1645920" cy="640080"/>
          </a:xfrm>
          <a:prstGeom prst="roundRect">
            <a:avLst>
              <a:gd name="adj" fmla="val 6000"/>
            </a:avLst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AT_LOCAL_HUB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8047" y="2295144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9900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2148840"/>
            <a:ext cx="1645920" cy="640080"/>
          </a:xfrm>
          <a:prstGeom prst="roundRect">
            <a:avLst>
              <a:gd name="adj" fmla="val 6000"/>
            </a:avLst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HUB_VERIFIED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0632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9BA7B0"/>
                </a:solidFill>
                <a:latin typeface="Arial"/>
              </a:rPr>
              <a:t>EXECUTION (each still re-enters the engine on failure):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01568"/>
            <a:ext cx="1558137" cy="384048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D5DBDB"/>
                </a:solidFill>
                <a:latin typeface="Arial"/>
              </a:rPr>
              <a:t>LISTED_LOCAL→SOLD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26233" y="3401568"/>
            <a:ext cx="1137513" cy="384048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D5DBDB"/>
                </a:solidFill>
                <a:latin typeface="Arial"/>
              </a:rPr>
              <a:t>REFURB_QUEUE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91762" y="3401568"/>
            <a:ext cx="1474012" cy="384048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D5DBDB"/>
                </a:solidFill>
                <a:latin typeface="Arial"/>
              </a:rPr>
              <a:t>RESTOCK_OUTBOUND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93790" y="3401568"/>
            <a:ext cx="1305763" cy="384048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D5DBDB"/>
                </a:solidFill>
                <a:latin typeface="Arial"/>
              </a:rPr>
              <a:t>PALLET_STAGING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7569" y="3401568"/>
            <a:ext cx="1305763" cy="384048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D5DBDB"/>
                </a:solidFill>
                <a:latin typeface="Arial"/>
              </a:rPr>
              <a:t>DONATION_BATCH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1348" y="3401568"/>
            <a:ext cx="1221638" cy="384048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D5DBDB"/>
                </a:solidFill>
                <a:latin typeface="Arial"/>
              </a:rPr>
              <a:t>RECYCLE_BATCH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1002" y="3401568"/>
            <a:ext cx="1978761" cy="384048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D5DBDB"/>
                </a:solidFill>
                <a:latin typeface="Arial"/>
              </a:rPr>
              <a:t>RL_OUTBOUND (fallback)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16052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3434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EVERY TRANSITION RE-INVOKES THE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754880"/>
            <a:ext cx="4983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5DBDB"/>
                </a:solidFill>
                <a:latin typeface="Arial"/>
              </a:rPr>
              <a:t>“Demand changed while routing was planned” stops being an edge case — it's just a re-evaluation at the next checkpoint. Static fallback chains are replaced by “re-run the engine from the current state.”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16052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3434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EVERY STATE HAS A COST-TO-REDIRECT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754880"/>
            <a:ext cx="4983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5DBDB"/>
                </a:solidFill>
                <a:latin typeface="Arial"/>
              </a:rPr>
              <a:t>At ROUTED it's zero. At AT_LOCAL_HUB it's a shelf move. At SOLD it's a buyer notification. The engine reasons about </a:t>
            </a:r>
            <a:r>
              <a:rPr sz="1250" b="1" i="0">
                <a:solidFill>
                  <a:srgbClr val="FFFFFF"/>
                </a:solidFill>
                <a:latin typeface="Arial"/>
              </a:rPr>
              <a:t>commitment</a:t>
            </a:r>
            <a:r>
              <a:rPr sz="1250" b="0" i="0">
                <a:solidFill>
                  <a:srgbClr val="D5DBDB"/>
                </a:solidFill>
                <a:latin typeface="Arial"/>
              </a:rPr>
              <a:t>, not just value — and a decision TTL forces re-evaluation on expiry.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the intelligence layer for Amazon's returns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A7B0"/>
                </a:solidFill>
                <a:latin typeface="Arial"/>
              </a:rPr>
              <a:t>LIFECYCLE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MONEY SHOT — CHECKPOINTS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Two human checkpoints keep the AI honest — live re-route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5DBDB"/>
                </a:solidFill>
                <a:latin typeface="Arial"/>
              </a:rPr>
              <a:t>Driver scan (30s at the door) + hub bench (10 min in-city). When the human disagrees with the AI, the </a:t>
            </a:r>
            <a:r>
              <a:rPr sz="1250" b="1" i="0">
                <a:solidFill>
                  <a:srgbClr val="FF9900"/>
                </a:solidFill>
                <a:latin typeface="Arial"/>
              </a:rPr>
              <a:t>same engine re-runs instantly</a:t>
            </a:r>
            <a:r>
              <a:rPr sz="1250" b="0" i="0">
                <a:solidFill>
                  <a:srgbClr val="D5DBDB"/>
                </a:solidFill>
                <a:latin typeface="Arial"/>
              </a:rPr>
              <a:t> — the wrong grade is caught before any buyer is exposed. Correction cost: one shelf move.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5669280" cy="3291840"/>
          </a:xfrm>
          <a:prstGeom prst="roundRect">
            <a:avLst>
              <a:gd name="adj" fmla="val 6000"/>
            </a:avLst>
          </a:prstGeom>
          <a:solidFill>
            <a:srgbClr val="0C1218"/>
          </a:solidFill>
          <a:ln w="12700">
            <a:solidFill>
              <a:srgbClr val="374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852928"/>
            <a:ext cx="100584" cy="100584"/>
          </a:xfrm>
          <a:prstGeom prst="ellipse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52928"/>
            <a:ext cx="100584" cy="100584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07008" y="2852928"/>
            <a:ext cx="100584" cy="100584"/>
          </a:xfrm>
          <a:prstGeom prst="ellipse">
            <a:avLst/>
          </a:prstGeom>
          <a:solidFill>
            <a:srgbClr val="2EC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834640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A7B0"/>
                </a:solidFill>
                <a:latin typeface="Consolas"/>
              </a:rPr>
              <a:t>live re-route (Scenario 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127248"/>
            <a:ext cx="5266944" cy="2788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9BA7B0"/>
                </a:solidFill>
                <a:latin typeface="Consolas"/>
              </a:rPr>
              <a:t>BEFORE  — doorstep, sealed grade A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CFE8D6"/>
                </a:solidFill>
                <a:latin typeface="Consolas"/>
              </a:rPr>
              <a:t>  POST /api/route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2EC48D"/>
                </a:solidFill>
                <a:latin typeface="Consolas"/>
              </a:rPr>
              <a:t>  → decision: restock   ttlHours: 24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D5DBDB"/>
                </a:solidFill>
                <a:latin typeface="Consolas"/>
              </a:rPr>
              <a:t/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9BA7B0"/>
                </a:solidFill>
                <a:latin typeface="Consolas"/>
              </a:rPr>
              <a:t>AFTER  — hub bench: observedGrade B,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9BA7B0"/>
                </a:solidFill>
                <a:latin typeface="Consolas"/>
              </a:rPr>
              <a:t>         seal broken → engine re-runs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CFE8D6"/>
                </a:solidFill>
                <a:latin typeface="Consolas"/>
              </a:rPr>
              <a:t>  POST /api/return/checkpoint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FF9900"/>
                </a:solidFill>
                <a:latin typeface="Consolas"/>
              </a:rPr>
              <a:t>  → decision: local_resale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CFE8D6"/>
                </a:solidFill>
                <a:latin typeface="Consolas"/>
              </a:rPr>
              <a:t>  → 'Hub bench overrode grade A → B;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CFE8D6"/>
                </a:solidFill>
                <a:latin typeface="Consolas"/>
              </a:rPr>
              <a:t>     engine re-ran and routed to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CFE8D6"/>
                </a:solidFill>
                <a:latin typeface="Consolas"/>
              </a:rPr>
              <a:t>     local_resale.'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DC8E8"/>
                </a:solidFill>
                <a:latin typeface="Consolas"/>
              </a:rPr>
              <a:t>  → transition: at_local_hub →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DC8E8"/>
                </a:solidFill>
                <a:latin typeface="Consolas"/>
              </a:rPr>
              <a:t>     hub_verified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554480"/>
            <a:ext cx="4983480" cy="251460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 w="1905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810512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9900"/>
                </a:solidFill>
                <a:latin typeface="Arial"/>
              </a:rPr>
              <a:t>📸  PASTE SCREENSHOT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267712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9BA7B0"/>
                </a:solidFill>
                <a:latin typeface="Arial"/>
              </a:rPr>
              <a:t>Run:  </a:t>
            </a:r>
            <a:r>
              <a:rPr sz="1100" b="0" i="0">
                <a:solidFill>
                  <a:srgbClr val="CFE8D6"/>
                </a:solidFill>
                <a:latin typeface="Consolas"/>
              </a:rPr>
              <a:t>Hub Bench → toggle seal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502152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D5DBDB"/>
                </a:solidFill>
                <a:latin typeface="Arial"/>
              </a:rPr>
              <a:t>The decision flips restock → local_resale on screen as you break the seal.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4297680"/>
            <a:ext cx="4983480" cy="173736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44805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THE FLYWHEEL — the data moat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89204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5DBDB"/>
                </a:solidFill>
                <a:latin typeface="Arial"/>
              </a:rPr>
              <a:t>Every bench verdict is a free labelled training pair (photos → verified grade). Our DINOv2 grader improves as a </a:t>
            </a:r>
            <a:r>
              <a:rPr sz="1250" b="1" i="0">
                <a:solidFill>
                  <a:srgbClr val="FFFFFF"/>
                </a:solidFill>
                <a:latin typeface="Arial"/>
              </a:rPr>
              <a:t>byproduct of operations</a:t>
            </a:r>
            <a:r>
              <a:rPr sz="1250" b="0" i="0">
                <a:solidFill>
                  <a:srgbClr val="D5DBDB"/>
                </a:solidFill>
                <a:latin typeface="Arial"/>
              </a:rPr>
              <a:t> — graded pallets and audited destruction are second-order wins nobody gets without grading at source.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the intelligence layer for Amazon's returns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A7B0"/>
                </a:solidFill>
                <a:latin typeface="Arial"/>
              </a:rPr>
              <a:t>LIFECYCLE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STAGE 6 — DESTINATIONS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Where the money is — eight routes, one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417320" cy="498348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Route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57400" y="1554480"/>
            <a:ext cx="3063240" cy="498348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Trigger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1554480"/>
            <a:ext cx="3108960" cy="498348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vs Amazon today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554480"/>
            <a:ext cx="3291840" cy="498348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Saved / earned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2828"/>
            <a:ext cx="1417320" cy="498348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0">
                <a:solidFill>
                  <a:srgbClr val="D5DBDB"/>
                </a:solidFill>
                <a:latin typeface="Arial"/>
              </a:rPr>
              <a:t>Restock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7400" y="2052828"/>
            <a:ext cx="3063240" cy="498348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0">
                <a:solidFill>
                  <a:srgbClr val="D5DBDB"/>
                </a:solidFill>
                <a:latin typeface="Arial"/>
              </a:rPr>
              <a:t>Sealed / verified-A + benign reason + SKU live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2052828"/>
            <a:ext cx="3108960" cy="498348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0">
                <a:solidFill>
                  <a:srgbClr val="D5DBDB"/>
                </a:solidFill>
                <a:latin typeface="Arial"/>
              </a:rPr>
              <a:t>Rides to RLC, dwells weeks, maybe restocks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052828"/>
            <a:ext cx="3291840" cy="498348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0">
                <a:solidFill>
                  <a:srgbClr val="D5DBDB"/>
                </a:solidFill>
                <a:latin typeface="Arial"/>
              </a:rPr>
              <a:t>Straight to nearest FC; deletes hop + dwell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51176"/>
            <a:ext cx="1417320" cy="498348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0">
                <a:solidFill>
                  <a:srgbClr val="D5DBDB"/>
                </a:solidFill>
                <a:latin typeface="Arial"/>
              </a:rPr>
              <a:t>Local resale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7400" y="2551176"/>
            <a:ext cx="3063240" cy="498348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0">
                <a:solidFill>
                  <a:srgbClr val="D5DBDB"/>
                </a:solidFill>
                <a:latin typeface="Arial"/>
              </a:rPr>
              <a:t>Grade A/B, mid-value, demand clears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2551176"/>
            <a:ext cx="3108960" cy="498348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0">
                <a:solidFill>
                  <a:srgbClr val="D5DBDB"/>
                </a:solidFill>
                <a:latin typeface="Arial"/>
              </a:rPr>
              <a:t>Liquidated for cents or resold weeks later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551176"/>
            <a:ext cx="3291840" cy="498348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0">
                <a:solidFill>
                  <a:srgbClr val="D5DBDB"/>
                </a:solidFill>
                <a:latin typeface="Arial"/>
              </a:rPr>
              <a:t>60–80% of clearing; zero linehaul; cash in days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049524"/>
            <a:ext cx="1417320" cy="498348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0">
                <a:solidFill>
                  <a:srgbClr val="D5DBDB"/>
                </a:solidFill>
                <a:latin typeface="Arial"/>
              </a:rPr>
              <a:t>Refurbish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57400" y="3049524"/>
            <a:ext cx="3063240" cy="498348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0">
                <a:solidFill>
                  <a:srgbClr val="D5DBDB"/>
                </a:solidFill>
                <a:latin typeface="Arial"/>
              </a:rPr>
              <a:t>Defect with positive uplift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3049524"/>
            <a:ext cx="3108960" cy="498348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0">
                <a:solidFill>
                  <a:srgbClr val="D5DBDB"/>
                </a:solidFill>
                <a:latin typeface="Arial"/>
              </a:rPr>
              <a:t>G&amp;R grades at FC, no repair at source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049524"/>
            <a:ext cx="3291840" cy="498348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0">
                <a:solidFill>
                  <a:srgbClr val="D5DBDB"/>
                </a:solidFill>
                <a:latin typeface="Arial"/>
              </a:rPr>
              <a:t>₹300 cable → B→A worth +₹1,500; re-enters resale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547872"/>
            <a:ext cx="1417320" cy="498348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0">
                <a:solidFill>
                  <a:srgbClr val="D5DBDB"/>
                </a:solidFill>
                <a:latin typeface="Arial"/>
              </a:rPr>
              <a:t>Liquidate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57400" y="3547872"/>
            <a:ext cx="3063240" cy="498348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0">
                <a:solidFill>
                  <a:srgbClr val="D5DBDB"/>
                </a:solidFill>
                <a:latin typeface="Arial"/>
              </a:rPr>
              <a:t>Functional, low unit EV, or high uncertainty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3547872"/>
            <a:ext cx="3108960" cy="498348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0">
                <a:solidFill>
                  <a:srgbClr val="D5DBDB"/>
                </a:solidFill>
                <a:latin typeface="Arial"/>
              </a:rPr>
              <a:t>Residual after items sit at the RLC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547872"/>
            <a:ext cx="3291840" cy="498348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0">
                <a:solidFill>
                  <a:srgbClr val="D5DBDB"/>
                </a:solidFill>
                <a:latin typeface="Arial"/>
              </a:rPr>
              <a:t>Manifested pallets → top of the band; FC hop gone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046220"/>
            <a:ext cx="1417320" cy="498348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0">
                <a:solidFill>
                  <a:srgbClr val="D5DBDB"/>
                </a:solidFill>
                <a:latin typeface="Arial"/>
              </a:rPr>
              <a:t>Donate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57400" y="4046220"/>
            <a:ext cx="3063240" cy="498348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0">
                <a:solidFill>
                  <a:srgbClr val="D5DBDB"/>
                </a:solidFill>
                <a:latin typeface="Arial"/>
              </a:rPr>
              <a:t>All commercial EVs &lt; donation credit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0" y="4046220"/>
            <a:ext cx="3108960" cy="498348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0">
                <a:solidFill>
                  <a:srgbClr val="D5DBDB"/>
                </a:solidFill>
                <a:latin typeface="Arial"/>
              </a:rPr>
              <a:t>Same, after full RL cost sunk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4046220"/>
            <a:ext cx="3291840" cy="498348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0">
                <a:solidFill>
                  <a:srgbClr val="D5DBDB"/>
                </a:solidFill>
                <a:latin typeface="Arial"/>
              </a:rPr>
              <a:t>Half handling, zero freight, CSR credit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544568"/>
            <a:ext cx="1417320" cy="498348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0">
                <a:solidFill>
                  <a:srgbClr val="D5DBDB"/>
                </a:solidFill>
                <a:latin typeface="Arial"/>
              </a:rPr>
              <a:t>Recycle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57400" y="4544568"/>
            <a:ext cx="3063240" cy="498348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0">
                <a:solidFill>
                  <a:srgbClr val="D5DBDB"/>
                </a:solidFill>
                <a:latin typeface="Arial"/>
              </a:rPr>
              <a:t>Forced (hazmat) or materials &gt; handling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0" y="4544568"/>
            <a:ext cx="3108960" cy="498348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0">
                <a:solidFill>
                  <a:srgbClr val="D5DBDB"/>
                </a:solidFill>
                <a:latin typeface="Arial"/>
              </a:rPr>
              <a:t>Same, after two truck rides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4544568"/>
            <a:ext cx="3291840" cy="498348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0">
                <a:solidFill>
                  <a:srgbClr val="D5DBDB"/>
                </a:solidFill>
                <a:latin typeface="Arial"/>
              </a:rPr>
              <a:t>Local certified drop; commodity + carbon credit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042916"/>
            <a:ext cx="1417320" cy="498348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0">
                <a:solidFill>
                  <a:srgbClr val="D5DBDB"/>
                </a:solidFill>
                <a:latin typeface="Arial"/>
              </a:rPr>
              <a:t>Destroy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57400" y="5042916"/>
            <a:ext cx="3063240" cy="498348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0">
                <a:solidFill>
                  <a:srgbClr val="D5DBDB"/>
                </a:solidFill>
                <a:latin typeface="Arial"/>
              </a:rPr>
              <a:t>Legally required only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20640" y="5042916"/>
            <a:ext cx="3108960" cy="498348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0">
                <a:solidFill>
                  <a:srgbClr val="D5DBDB"/>
                </a:solidFill>
                <a:latin typeface="Arial"/>
              </a:rPr>
              <a:t>A real % die by default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5042916"/>
            <a:ext cx="3291840" cy="498348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0">
                <a:solidFill>
                  <a:srgbClr val="D5DBDB"/>
                </a:solidFill>
                <a:latin typeface="Arial"/>
              </a:rPr>
              <a:t>Engine KPI is SHRINKING this — logged reason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541264"/>
            <a:ext cx="1417320" cy="498348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0">
                <a:solidFill>
                  <a:srgbClr val="D5DBDB"/>
                </a:solidFill>
                <a:latin typeface="Arial"/>
              </a:rPr>
              <a:t>Standard RL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57400" y="5541264"/>
            <a:ext cx="3063240" cy="498348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0">
                <a:solidFill>
                  <a:srgbClr val="D5DBDB"/>
                </a:solidFill>
                <a:latin typeface="Arial"/>
              </a:rPr>
              <a:t>Low conf / fraud / opt-out (fallback)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20640" y="5541264"/>
            <a:ext cx="3108960" cy="498348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0">
                <a:solidFill>
                  <a:srgbClr val="D5DBDB"/>
                </a:solidFill>
                <a:latin typeface="Arial"/>
              </a:rPr>
              <a:t>Identical to today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5541264"/>
            <a:ext cx="3291840" cy="498348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00" b="0">
                <a:solidFill>
                  <a:srgbClr val="D5DBDB"/>
                </a:solidFill>
                <a:latin typeface="Arial"/>
              </a:rPr>
              <a:t>Zero, by design — the graceful-degradation guarantee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the intelligence layer for Amazon's returns pipeline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A7B0"/>
                </a:solidFill>
                <a:latin typeface="Arial"/>
              </a:rPr>
              <a:t>ROUTES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SPEC 021 — HONEST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We priced the engine against real Amazon returns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5DBDB"/>
                </a:solidFill>
                <a:latin typeface="Arial"/>
              </a:rPr>
              <a:t>Every constant is grounded in how Amazon's own machine actually prices things — no fictions.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5856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FBA Liquidations nets sellers 5–10% of ASP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D5DBDB"/>
                </a:solidFill>
                <a:latin typeface="Arial"/>
              </a:rPr>
              <a:t>paid 30–90 days out; Amazon sells to liquidators at 20–30¢ on the retail dollar.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36392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~$27 to process a $100 return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9359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D5DBDB"/>
                </a:solidFill>
                <a:latin typeface="Arial"/>
              </a:rPr>
              <a:t>restock + shipping + inspection labor — for cheap items this exceeds every recovery path.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23944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3367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Returns fraud runs 9–15%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581144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D5DBDB"/>
                </a:solidFill>
                <a:latin typeface="Arial"/>
              </a:rPr>
              <a:t>so any refund-without-return lever must hard-gate on trust + fraud, never on value alone.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111496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22122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Manifested pallets clear materially higher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68696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D5DBDB"/>
                </a:solidFill>
                <a:latin typeface="Arial"/>
              </a:rPr>
              <a:t>than mystery lots — the exact premium a Health-Card manifest earns.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10312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WHAT CHANGED IN THE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514600"/>
            <a:ext cx="53035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FF9900"/>
                </a:solidFill>
                <a:latin typeface="Arial"/>
              </a:rPr>
              <a:t>▸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Warehouse repriced: </a:t>
            </a:r>
            <a:r>
              <a:rPr sz="1200" b="0" i="0">
                <a:solidFill>
                  <a:srgbClr val="D5DBDB"/>
                </a:solidFill>
                <a:latin typeface="Arial"/>
              </a:rPr>
              <a:t>the flat 60%-recovery fiction is gone. Now a mixture — 15%×85% restock-after-inspection + 85%×20% FC liquidation, then 21-day dwell decay.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FF9900"/>
                </a:solidFill>
                <a:latin typeface="Arial"/>
              </a:rPr>
              <a:t>▸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liquidate is first-class: </a:t>
            </a:r>
            <a:r>
              <a:rPr sz="1200" b="0" i="0">
                <a:solidFill>
                  <a:srgbClr val="D5DBDB"/>
                </a:solidFill>
                <a:latin typeface="Arial"/>
              </a:rPr>
              <a:t>a Health-Card-manifested hub pallet with its own lot engine (next slide).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FF9900"/>
                </a:solidFill>
                <a:latin typeface="Arial"/>
              </a:rPr>
              <a:t>▸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E[correction_cost] built: </a:t>
            </a:r>
            <a:r>
              <a:rPr sz="1200" b="0" i="0">
                <a:solidFill>
                  <a:srgbClr val="D5DBDB"/>
                </a:solidFill>
                <a:latin typeface="Arial"/>
              </a:rPr>
              <a:t>the EV term that was documented but never implemented — now real and visible.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FF9900"/>
                </a:solidFill>
                <a:latin typeface="Arial"/>
              </a:rPr>
              <a:t>▸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Defect-level refurb: </a:t>
            </a:r>
            <a:r>
              <a:rPr sz="1200" b="0" i="0">
                <a:solidFill>
                  <a:srgbClr val="D5DBDB"/>
                </a:solidFill>
                <a:latin typeface="Arial"/>
              </a:rPr>
              <a:t>a DEFECT_REPAIR_TABLE (tag → repair ₹ + grade delta) replaces grade-level fractions.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FF9900"/>
                </a:solidFill>
                <a:latin typeface="Arial"/>
              </a:rPr>
              <a:t>▸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returnless_refund: </a:t>
            </a:r>
            <a:r>
              <a:rPr sz="1200" b="0" i="0">
                <a:solidFill>
                  <a:srgbClr val="D5DBDB"/>
                </a:solidFill>
                <a:latin typeface="Arial"/>
              </a:rPr>
              <a:t>when every movement path loses money and trust/fraud/value gates pass — refund, keep the item.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the intelligence layer for Amazon's returns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A7B0"/>
                </a:solidFill>
                <a:latin typeface="Arial"/>
              </a:rPr>
              <a:t>ECONOMICS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LIQUIDATION LOT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Manifested pallets: a real secondary-market auction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5778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5DBDB"/>
                </a:solidFill>
                <a:latin typeface="Arial"/>
              </a:rPr>
              <a:t>Deterministic, glass-box like routing. A pallet = a grade histogram + a manifest. Per-buyer bid curves (refurbisher, wholesaler, NGO, fashion) auction it; the Health-Card manifest premium is what grading-at-source earns. A closed-form ship-vs-wait breakeven decides pickup timing.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5577840" cy="3474720"/>
          </a:xfrm>
          <a:prstGeom prst="roundRect">
            <a:avLst>
              <a:gd name="adj" fmla="val 6000"/>
            </a:avLst>
          </a:prstGeom>
          <a:solidFill>
            <a:srgbClr val="0C1218"/>
          </a:solidFill>
          <a:ln w="12700">
            <a:solidFill>
              <a:srgbClr val="374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715768"/>
            <a:ext cx="100584" cy="100584"/>
          </a:xfrm>
          <a:prstGeom prst="ellipse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715768"/>
            <a:ext cx="100584" cy="100584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07008" y="2715768"/>
            <a:ext cx="100584" cy="100584"/>
          </a:xfrm>
          <a:prstGeom prst="ellipse">
            <a:avLst/>
          </a:prstGeom>
          <a:solidFill>
            <a:srgbClr val="2EC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97480"/>
            <a:ext cx="4480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A7B0"/>
                </a:solidFill>
                <a:latin typeface="Consolas"/>
              </a:rPr>
              <a:t>tsx src/scripts/lot-trace.ts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990088"/>
            <a:ext cx="5175504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9BA7B0"/>
                </a:solidFill>
                <a:latin typeface="Consolas"/>
              </a:rPr>
              <a:t>Pallet: 30 electronics · avg ₹2,400 · 90% manifest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FF9900"/>
                </a:solidFill>
                <a:latin typeface="Consolas"/>
              </a:rPr>
              <a:t>Winning buyer:  refurbisher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CFE8D6"/>
                </a:solidFill>
                <a:latin typeface="Consolas"/>
              </a:rPr>
              <a:t>  gross            ₹31,877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F26D6D"/>
                </a:solidFill>
                <a:latin typeface="Consolas"/>
              </a:rPr>
              <a:t>  Amazon take 10%   ₹3,188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EC48D"/>
                </a:solidFill>
                <a:latin typeface="Consolas"/>
              </a:rPr>
              <a:t>  seller proceeds  ₹28,689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CFE8D6"/>
                </a:solidFill>
                <a:latin typeface="Consolas"/>
              </a:rPr>
              <a:t>  14× grade B @ 34%  +₹11,424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EC48D"/>
                </a:solidFill>
                <a:latin typeface="Consolas"/>
              </a:rPr>
              <a:t>  Manifest premium   +₹9,893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CFE8D6"/>
                </a:solidFill>
                <a:latin typeface="Consolas"/>
              </a:rPr>
              <a:t>2nd-best (auto re-match): wholesaler ₹23,803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D5DBDB"/>
                </a:solidFill>
                <a:latin typeface="Consolas"/>
              </a:rPr>
              <a:t/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EC48D"/>
                </a:solidFill>
                <a:latin typeface="Consolas"/>
              </a:rPr>
              <a:t>Manifested (90%):  ₹28,689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F26D6D"/>
                </a:solidFill>
                <a:latin typeface="Consolas"/>
              </a:rPr>
              <a:t>Mystery lot (0%):  ₹19,786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FF9900"/>
                </a:solidFill>
                <a:latin typeface="Consolas"/>
              </a:rPr>
              <a:t>Premium earned:    ₹8,904  (+45%)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D5DBDB"/>
                </a:solidFill>
                <a:latin typeface="Consolas"/>
              </a:rPr>
              <a:t/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DC8E8"/>
                </a:solidFill>
                <a:latin typeface="Consolas"/>
              </a:rPr>
              <a:t>ship-vs-wait  n* = ceil(sqrt(F·λ/(δ·v)))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CFE8D6"/>
                </a:solidFill>
                <a:latin typeface="Consolas"/>
              </a:rPr>
              <a:t>  40/40 → shipNow=true (pallet full)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463040"/>
            <a:ext cx="5074920" cy="228600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 w="1905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71907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9900"/>
                </a:solidFill>
                <a:latin typeface="Arial"/>
              </a:rPr>
              <a:t>📸  PASTE SCREENSHOT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176272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9BA7B0"/>
                </a:solidFill>
                <a:latin typeface="Arial"/>
              </a:rPr>
              <a:t>Run:  </a:t>
            </a:r>
            <a:r>
              <a:rPr sz="1100" b="0" i="0">
                <a:solidFill>
                  <a:srgbClr val="CFE8D6"/>
                </a:solidFill>
                <a:latin typeface="Consolas"/>
              </a:rPr>
              <a:t>tsx src/scripts/lot-trace.ts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182112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D5DBDB"/>
                </a:solidFill>
                <a:latin typeface="Arial"/>
              </a:rPr>
              <a:t>The pallet buyer auction + the +45% manifest premium + ship-vs-wait verdict.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3977639"/>
            <a:ext cx="5074920" cy="210312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16052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WHY THIS IS A MOAT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572000"/>
            <a:ext cx="4663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9900"/>
                </a:solidFill>
                <a:latin typeface="Arial"/>
              </a:rPr>
              <a:t>▸  </a:t>
            </a:r>
            <a:r>
              <a:rPr sz="1150" b="0" i="0">
                <a:solidFill>
                  <a:srgbClr val="D5DBDB"/>
                </a:solidFill>
                <a:latin typeface="Arial"/>
              </a:rPr>
              <a:t>A returns center can't reprice a queue. We turn a mystery lot into a graded, transparent pallet a buyer can inspect.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9900"/>
                </a:solidFill>
                <a:latin typeface="Arial"/>
              </a:rPr>
              <a:t>▸  </a:t>
            </a:r>
            <a:r>
              <a:rPr sz="1150" b="1" i="0">
                <a:solidFill>
                  <a:srgbClr val="FFFFFF"/>
                </a:solidFill>
                <a:latin typeface="Arial"/>
              </a:rPr>
              <a:t>+45% recovery </a:t>
            </a:r>
            <a:r>
              <a:rPr sz="1150" b="0" i="0">
                <a:solidFill>
                  <a:srgbClr val="D5DBDB"/>
                </a:solidFill>
                <a:latin typeface="Arial"/>
              </a:rPr>
              <a:t>on the same physical units, purely from the manifest the doorstep grade already produced.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the intelligence layer for Amazon's returns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A7B0"/>
                </a:solidFill>
                <a:latin typeface="Arial"/>
              </a:rPr>
              <a:t>ECONOMICS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THE BEST ROUTE IS NO 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Returnless refund — hard-gated, deterministic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5DBDB"/>
                </a:solidFill>
                <a:latin typeface="Arial"/>
              </a:rPr>
              <a:t>Amazon's real lever, decided by math instead of ad hoc. When </a:t>
            </a:r>
            <a:r>
              <a:rPr sz="1350" b="1" i="0">
                <a:solidFill>
                  <a:srgbClr val="FF9900"/>
                </a:solidFill>
                <a:latin typeface="Arial"/>
              </a:rPr>
              <a:t>every movement path has negative EV</a:t>
            </a:r>
            <a:r>
              <a:rPr sz="1350" b="0" i="0">
                <a:solidFill>
                  <a:srgbClr val="D5DBDB"/>
                </a:solidFill>
                <a:latin typeface="Arial"/>
              </a:rPr>
              <a:t> and all gates pass, refund and let the customer keep the item — zero legs, zero handling, zero carbon.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6126480" cy="713232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5669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Value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79776"/>
            <a:ext cx="5715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D5DBDB"/>
                </a:solidFill>
                <a:latin typeface="Arial"/>
              </a:rPr>
              <a:t>never for items ≥ ₹800 — high value must be physically recovered.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63824"/>
            <a:ext cx="6126480" cy="713232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55264"/>
            <a:ext cx="5669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Fraud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66160"/>
            <a:ext cx="5715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D5DBDB"/>
                </a:solidFill>
                <a:latin typeface="Arial"/>
              </a:rPr>
              <a:t>any wardrobing / photo-reuse / auth-mismatch signal hard-blocks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50208"/>
            <a:ext cx="6126480" cy="713232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41648"/>
            <a:ext cx="5669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Trust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52544"/>
            <a:ext cx="5715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D5DBDB"/>
                </a:solidFill>
                <a:latin typeface="Arial"/>
              </a:rPr>
              <a:t>customerTrust × confidence must clear 0.5 (the pickup-refund lever).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736592"/>
            <a:ext cx="6126480" cy="713232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828032"/>
            <a:ext cx="5669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All-paths-negative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38928"/>
            <a:ext cx="5715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D5DBDB"/>
                </a:solidFill>
                <a:latin typeface="Arial"/>
              </a:rPr>
              <a:t>excluded from the argmax; fires ONLY when even the best real route loses money.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95160" y="2377440"/>
            <a:ext cx="4526280" cy="233172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 w="1905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2633472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9900"/>
                </a:solidFill>
                <a:latin typeface="Arial"/>
              </a:rPr>
              <a:t>📸  PASTE SCREENSHOT 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090672"/>
            <a:ext cx="3977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9BA7B0"/>
                </a:solidFill>
                <a:latin typeface="Arial"/>
              </a:rPr>
              <a:t>Run:  </a:t>
            </a:r>
            <a:r>
              <a:rPr sz="1100" b="0" i="0">
                <a:solidFill>
                  <a:srgbClr val="CFE8D6"/>
                </a:solidFill>
                <a:latin typeface="Consolas"/>
              </a:rPr>
              <a:t>pnpm test:edge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142232"/>
            <a:ext cx="3977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D5DBDB"/>
                </a:solidFill>
                <a:latin typeface="Arial"/>
              </a:rPr>
              <a:t>all-paths-negative + trust → returnless_refund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95160" y="4937760"/>
            <a:ext cx="4526280" cy="146304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510235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9900"/>
                </a:solidFill>
                <a:latin typeface="Arial"/>
              </a:rPr>
              <a:t>THREE NEGATIVE CONTROLS 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5486400"/>
            <a:ext cx="4114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9900"/>
                </a:solidFill>
                <a:latin typeface="Arial"/>
              </a:rPr>
              <a:t>▸  </a:t>
            </a:r>
            <a:r>
              <a:rPr sz="1100" b="0" i="0">
                <a:solidFill>
                  <a:srgbClr val="D5DBDB"/>
                </a:solidFill>
                <a:latin typeface="Arial"/>
              </a:rPr>
              <a:t>no trust signal → ineligible, stays a real route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9900"/>
                </a:solidFill>
                <a:latin typeface="Arial"/>
              </a:rPr>
              <a:t>▸  </a:t>
            </a:r>
            <a:r>
              <a:rPr sz="1100" b="0" i="0">
                <a:solidFill>
                  <a:srgbClr val="D5DBDB"/>
                </a:solidFill>
                <a:latin typeface="Arial"/>
              </a:rPr>
              <a:t>high value → must be physically recovered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9900"/>
                </a:solidFill>
                <a:latin typeface="Arial"/>
              </a:rPr>
              <a:t>▸  </a:t>
            </a:r>
            <a:r>
              <a:rPr sz="1100" b="0" i="0">
                <a:solidFill>
                  <a:srgbClr val="D5DBDB"/>
                </a:solidFill>
                <a:latin typeface="Arial"/>
              </a:rPr>
              <a:t>fraud signal → blocked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669280"/>
            <a:ext cx="6126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D5DBDB"/>
                </a:solidFill>
                <a:latin typeface="Arial"/>
              </a:rPr>
              <a:t>Opt-in via </a:t>
            </a:r>
            <a:r>
              <a:rPr sz="1150" b="1" i="0">
                <a:solidFill>
                  <a:srgbClr val="5DC8E8"/>
                </a:solidFill>
                <a:latin typeface="Consolas"/>
              </a:rPr>
              <a:t>customerTrust</a:t>
            </a:r>
            <a:r>
              <a:rPr sz="1150" b="0" i="0">
                <a:solidFill>
                  <a:srgbClr val="D5DBDB"/>
                </a:solidFill>
                <a:latin typeface="Arial"/>
              </a:rPr>
              <a:t> — existing demo flows are byte-unaffected unless a caller supplies 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the intelligence layer for Amazon's returns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A7B0"/>
                </a:solidFill>
                <a:latin typeface="Arial"/>
              </a:rPr>
              <a:t>ECONOMICS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STAGE 7 — THE AUTONOMOUS EXECUTOR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“Listed locally” is a state that still has to be won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4864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FF9900"/>
                </a:solidFill>
                <a:latin typeface="Arial"/>
              </a:rPr>
              <a:t>▸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The Listing Agent </a:t>
            </a:r>
            <a:r>
              <a:rPr sz="1200" b="0" i="0">
                <a:solidFill>
                  <a:srgbClr val="D5DBDB"/>
                </a:solidFill>
                <a:latin typeface="Arial"/>
              </a:rPr>
              <a:t>(spec 008) is born the moment the hub bench confirms local_resale: it mints a Health Card from the return's own checkpoints and spawns on a real marketplace listing.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FF9900"/>
                </a:solidFill>
                <a:latin typeface="Arial"/>
              </a:rPr>
              <a:t>▸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Floor = route-elsewhere EV. </a:t>
            </a:r>
            <a:r>
              <a:rPr sz="1200" b="0" i="0">
                <a:solidFill>
                  <a:srgbClr val="D5DBDB"/>
                </a:solidFill>
                <a:latin typeface="Arial"/>
              </a:rPr>
              <a:t>The agent's hard price floor is seeded from max(warehouse, liquidate) EV — it escalates exactly when local resale stops beating “send it up the chain.” Spec-016 economics drive spec-014 escalation with zero new logic.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FF9900"/>
                </a:solidFill>
                <a:latin typeface="Arial"/>
              </a:rPr>
              <a:t>▸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Event-driven repricing (spec 014). </a:t>
            </a:r>
            <a:r>
              <a:rPr sz="1200" b="0" i="0">
                <a:solidFill>
                  <a:srgbClr val="D5DBDB"/>
                </a:solidFill>
                <a:latin typeface="Arial"/>
              </a:rPr>
              <a:t>Significant events (comp undercut, view-velocity drop, dwell) hit an XGBoost reward model + Thompson bandit + deterministic guardrails. A returns center cannot reprice a queue — this is the unique capability.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FF9900"/>
                </a:solidFill>
                <a:latin typeface="Arial"/>
              </a:rPr>
              <a:t>▸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Escalation re-enters the Bridge. </a:t>
            </a:r>
            <a:r>
              <a:rPr sz="1200" b="0" i="0">
                <a:solidFill>
                  <a:srgbClr val="D5DBDB"/>
                </a:solidFill>
                <a:latin typeface="Arial"/>
              </a:rPr>
              <a:t>listed_local → donation_batch | recycle_batch through the same state machine. Items never rot on a shelf.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00200"/>
            <a:ext cx="5120640" cy="438912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78308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9900"/>
                </a:solidFill>
                <a:latin typeface="Arial"/>
              </a:rPr>
              <a:t>THE DEMAND GRAPH — additive on Amazon's rec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240280"/>
            <a:ext cx="4709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5DBDB"/>
                </a:solidFill>
                <a:latin typeface="Arial"/>
              </a:rPr>
              <a:t>Amazon already knows who searched, wishlisted, or bought similar near the hub. We score that intent instead of inventing a marketplace: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3246120"/>
            <a:ext cx="4663440" cy="777240"/>
          </a:xfrm>
          <a:prstGeom prst="roundRect">
            <a:avLst>
              <a:gd name="adj" fmla="val 6000"/>
            </a:avLst>
          </a:prstGeom>
          <a:solidFill>
            <a:srgbClr val="0C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3364992"/>
            <a:ext cx="4389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CFE8D6"/>
                </a:solidFill>
                <a:latin typeface="Consolas"/>
              </a:rPr>
              <a:t>matchScore = intentWeight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9BA7B0"/>
                </a:solidFill>
                <a:latin typeface="Consolas"/>
              </a:rPr>
              <a:t>  (searched .65 / wishlist .8 / bought .9)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CFE8D6"/>
                </a:solidFill>
                <a:latin typeface="Consolas"/>
              </a:rPr>
              <a:t>  × distanceDecay × priceFit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206240"/>
            <a:ext cx="4663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9900"/>
                </a:solidFill>
                <a:latin typeface="Arial"/>
              </a:rPr>
              <a:t>Buyer surfaces: </a:t>
            </a:r>
            <a:r>
              <a:rPr sz="1200" b="0" i="0">
                <a:solidFill>
                  <a:srgbClr val="D5DBDB"/>
                </a:solidFill>
                <a:latin typeface="Arial"/>
              </a:rPr>
              <a:t>the exact product page shows “Open-box near you · doorstep graded · hub verified · X% off · delivered today,” with the recommendation layer speaking (“this is on your wish list”). The purchase runs a real cross-account transaction that closes the lifecycle: listed_local → sold → delivered_to_buyer, EcoCredits in both ledgers, agent retires.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the intelligence layer for Amazon's returns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A7B0"/>
                </a:solidFill>
                <a:latin typeface="Arial"/>
              </a:rPr>
              <a:t>EXECUTOR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NOTIFICATIONS &amp; CASCADING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Stateful, restart-safe buyer matching — a cron cascade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5DBDB"/>
                </a:solidFill>
                <a:latin typeface="Arial"/>
              </a:rPr>
              <a:t>No fragile </a:t>
            </a:r>
            <a:r>
              <a:rPr sz="1350" b="1" i="0">
                <a:solidFill>
                  <a:srgbClr val="5DC8E8"/>
                </a:solidFill>
                <a:latin typeface="Consolas"/>
              </a:rPr>
              <a:t>setTimeout</a:t>
            </a:r>
            <a:r>
              <a:rPr sz="1350" b="0" i="0">
                <a:solidFill>
                  <a:srgbClr val="D5DBDB"/>
                </a:solidFill>
                <a:latin typeface="Arial"/>
              </a:rPr>
              <a:t> chains. Timeouts are detected from stored timestamps, so match state survives a server restart. One node-cron pass every 30 minutes.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6766560" cy="105156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22576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9900"/>
                </a:solidFill>
                <a:latin typeface="Consolas"/>
              </a:rPr>
              <a:t>handleTimeouts()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70048"/>
            <a:ext cx="6309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D5DBDB"/>
                </a:solidFill>
                <a:latin typeface="Arial"/>
              </a:rPr>
              <a:t>a notified buyer who didn't respond within the 2-hour window → mark timeout, cascade to the next candidate. Runs off notified_at, never a live timer.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37560"/>
            <a:ext cx="6766560" cy="105156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65576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9900"/>
                </a:solidFill>
                <a:latin typeface="Consolas"/>
              </a:rPr>
              <a:t>retrySearches()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13048"/>
            <a:ext cx="6309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D5DBDB"/>
                </a:solidFill>
                <a:latin typeface="Arial"/>
              </a:rPr>
              <a:t>sessions with no candidates left → re-run findCandidates in case new buyers registered; throttled to once / 2h via updated_at.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80560"/>
            <a:ext cx="6766560" cy="105156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608576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9900"/>
                </a:solidFill>
                <a:latin typeface="Consolas"/>
              </a:rPr>
              <a:t>handleExpiry()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956048"/>
            <a:ext cx="6309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D5DBDB"/>
                </a:solidFill>
                <a:latin typeface="Arial"/>
              </a:rPr>
              <a:t>pickup window closed without a match → status = warehouse_fallback, item's local_routing_accepted = false. The item never waits forever.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2194560"/>
            <a:ext cx="3931920" cy="3429000"/>
          </a:xfrm>
          <a:prstGeom prst="roundRect">
            <a:avLst>
              <a:gd name="adj" fmla="val 6000"/>
            </a:avLst>
          </a:prstGeom>
          <a:solidFill>
            <a:srgbClr val="0C1218"/>
          </a:solidFill>
          <a:ln w="12700">
            <a:solidFill>
              <a:srgbClr val="374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54112" y="2304288"/>
            <a:ext cx="100584" cy="100584"/>
          </a:xfrm>
          <a:prstGeom prst="ellipse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55280" y="2304288"/>
            <a:ext cx="100584" cy="100584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56448" y="2304288"/>
            <a:ext cx="100584" cy="100584"/>
          </a:xfrm>
          <a:prstGeom prst="ellipse">
            <a:avLst/>
          </a:prstGeom>
          <a:solidFill>
            <a:srgbClr val="2EC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286000"/>
            <a:ext cx="2834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A7B0"/>
                </a:solidFill>
                <a:latin typeface="Consolas"/>
              </a:rPr>
              <a:t>structured cron logs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2578608"/>
            <a:ext cx="3529584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CFE8D6"/>
                </a:solidFill>
                <a:latin typeface="Consolas"/>
              </a:rPr>
              <a:t>{"level":"info","msg":"matching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CFE8D6"/>
                </a:solidFill>
                <a:latin typeface="Consolas"/>
              </a:rPr>
              <a:t> cascade scheduled",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DC8E8"/>
                </a:solidFill>
                <a:latin typeface="Consolas"/>
              </a:rPr>
              <a:t> "cron":"*/30 * * * *"}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CFE8D6"/>
                </a:solidFill>
                <a:latin typeface="Consolas"/>
              </a:rPr>
              <a:t>{"level":"warn","msg":"match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CFE8D6"/>
                </a:solidFill>
                <a:latin typeface="Consolas"/>
              </a:rPr>
              <a:t> session expired — falling back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FF9900"/>
                </a:solidFill>
                <a:latin typeface="Consolas"/>
              </a:rPr>
              <a:t> to warehouse","returnId":...}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CFE8D6"/>
                </a:solidFill>
                <a:latin typeface="Consolas"/>
              </a:rPr>
              <a:t>{"level":"info","msg":"matching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CFE8D6"/>
                </a:solidFill>
                <a:latin typeface="Consolas"/>
              </a:rPr>
              <a:t> cascade complete",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DC8E8"/>
                </a:solidFill>
                <a:latin typeface="Consolas"/>
              </a:rPr>
              <a:t> "timeoutsAdvanced":1,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DC8E8"/>
                </a:solidFill>
                <a:latin typeface="Consolas"/>
              </a:rPr>
              <a:t> "searchesRetried":2,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DC8E8"/>
                </a:solidFill>
                <a:latin typeface="Consolas"/>
              </a:rPr>
              <a:t> "candidatesFound":1,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DC8E8"/>
                </a:solidFill>
                <a:latin typeface="Consolas"/>
              </a:rPr>
              <a:t> "sessionsExpired":0}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9BA7B0"/>
                </a:solidFill>
                <a:latin typeface="Arial"/>
              </a:rPr>
              <a:t>Every cron pass emits a summary line + a request id per API call — greppable now, ingestible into CloudWatch/Datadog later with no code change.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the intelligence layer for Amazon's returns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A7B0"/>
                </a:solidFill>
                <a:latin typeface="Arial"/>
              </a:rPr>
              <a:t>SCALE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Every edge case maps to an owning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3657600" cy="420624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Edge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508760"/>
            <a:ext cx="7223760" cy="420624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Owning mechanism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9384"/>
            <a:ext cx="3657600" cy="42062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Package opened / packaging missing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929384"/>
            <a:ext cx="7223760" cy="42062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Normal case — completeness vector + seal check move the posterior; hub repack is the default workflow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50008"/>
            <a:ext cx="3657600" cy="42062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Accessories / cables missing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350008"/>
            <a:ext cx="7223760" cy="42062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VLM manifest check → refurb (uplift positive) or grade-down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70632"/>
            <a:ext cx="3657600" cy="42062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Low AI confidence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770632"/>
            <a:ext cx="7223760" cy="42062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θ_r gates shrink the eligible set toward liquidate/warehouse — no special-case path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91256"/>
            <a:ext cx="3657600" cy="42062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AI grade wrong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3191256"/>
            <a:ext cx="7223760" cy="42062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Caught at driver scan / hub bench before buyer exposure; bounded correction; verdict becomes a training label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611880"/>
            <a:ext cx="3657600" cy="42062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Customer hides damage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3611880"/>
            <a:ext cx="7223760" cy="42062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Driver checkpoint + refund timed to trust×confidence + photo-reuse / capture attestation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032504"/>
            <a:ext cx="3657600" cy="42062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Local buyer rejects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4032504"/>
            <a:ext cx="7223760" cy="42062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Item still in-city; re-enters at hub; one local trip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453128"/>
            <a:ext cx="3657600" cy="42062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No nearby buyer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4453128"/>
            <a:ext cx="7223760" cy="42062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Demand curve priced it → engine chose another route; unsold listing → dwell expiry → re-run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873752"/>
            <a:ext cx="3657600" cy="42062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Demand shifts mid-route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4873752"/>
            <a:ext cx="7223760" cy="42062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Decision TTL; re-evaluated at each checkpoint while redirect is cheap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294376"/>
            <a:ext cx="3657600" cy="42062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Unsellable after inspection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5294376"/>
            <a:ext cx="7223760" cy="42062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Hub cascade: pallet → donate → recycle, same building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715000"/>
            <a:ext cx="3657600" cy="42062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Special-handling category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5715000"/>
            <a:ext cx="7223760" cy="42062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12700" bIns="12700"/>
          <a:lstStyle/>
          <a:p>
            <a:pPr algn="l"/>
            <a:r>
              <a:rPr sz="1050" b="0">
                <a:solidFill>
                  <a:srgbClr val="D5DBDB"/>
                </a:solidFill>
                <a:latin typeface="Arial"/>
              </a:rPr>
              <a:t>Hard ladder, evaluated first, never EV-optimized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the intelligence layer for Amazon's returns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A7B0"/>
                </a:solidFill>
                <a:latin typeface="Arial"/>
              </a:rPr>
              <a:t>ROBUST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SCALABILITY &amp; PRODUCTION POSTURE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Honest scope — what's real, what's mocked, what's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49240" cy="448056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EC48D"/>
                </a:solidFill>
                <a:latin typeface="Arial"/>
              </a:rPr>
              <a:t>PRODUCTION-SHAPED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49377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2EC48D"/>
                </a:solidFill>
                <a:latin typeface="Arial"/>
              </a:rPr>
              <a:t>▸  </a:t>
            </a:r>
            <a:r>
              <a:rPr sz="1150" b="1" i="0">
                <a:solidFill>
                  <a:srgbClr val="FFFFFF"/>
                </a:solidFill>
                <a:latin typeface="Arial"/>
              </a:rPr>
              <a:t>Deterministic + pure </a:t>
            </a:r>
            <a:r>
              <a:rPr sz="1150" b="0" i="0">
                <a:solidFill>
                  <a:srgbClr val="D5DBDB"/>
                </a:solidFill>
                <a:latin typeface="Arial"/>
              </a:rPr>
              <a:t>core engine (routing-ev, liquidation-lot) — no randomness, replayable, unit-tested. Scales as pure compute.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2EC48D"/>
                </a:solidFill>
                <a:latin typeface="Arial"/>
              </a:rPr>
              <a:t>▸  </a:t>
            </a:r>
            <a:r>
              <a:rPr sz="1150" b="1" i="0">
                <a:solidFill>
                  <a:srgbClr val="FFFFFF"/>
                </a:solidFill>
                <a:latin typeface="Arial"/>
              </a:rPr>
              <a:t>Structured JSON logging </a:t>
            </a:r>
            <a:r>
              <a:rPr sz="1150" b="0" i="0">
                <a:solidFill>
                  <a:srgbClr val="D5DBDB"/>
                </a:solidFill>
                <a:latin typeface="Arial"/>
              </a:rPr>
              <a:t>one line/event with a reqId per request (X-Request-Id echoed) — CloudWatch/Datadog-ready.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2EC48D"/>
                </a:solidFill>
                <a:latin typeface="Arial"/>
              </a:rPr>
              <a:t>▸  </a:t>
            </a:r>
            <a:r>
              <a:rPr sz="1150" b="1" i="0">
                <a:solidFill>
                  <a:srgbClr val="FFFFFF"/>
                </a:solidFill>
                <a:latin typeface="Arial"/>
              </a:rPr>
              <a:t>Hardening </a:t>
            </a:r>
            <a:r>
              <a:rPr sz="1150" b="0" i="0">
                <a:solidFill>
                  <a:srgbClr val="D5DBDB"/>
                </a:solidFill>
                <a:latin typeface="Arial"/>
              </a:rPr>
              <a:t>helmet security headers, per-IP rate limiting (300/min), bcrypt auth, input validation on every route.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2EC48D"/>
                </a:solidFill>
                <a:latin typeface="Arial"/>
              </a:rPr>
              <a:t>▸  </a:t>
            </a:r>
            <a:r>
              <a:rPr sz="1150" b="1" i="0">
                <a:solidFill>
                  <a:srgbClr val="FFFFFF"/>
                </a:solidFill>
                <a:latin typeface="Arial"/>
              </a:rPr>
              <a:t>Restart-safe jobs </a:t>
            </a:r>
            <a:r>
              <a:rPr sz="1150" b="0" i="0">
                <a:solidFill>
                  <a:srgbClr val="D5DBDB"/>
                </a:solidFill>
                <a:latin typeface="Arial"/>
              </a:rPr>
              <a:t>cron cascade + demand rollup detect state from timestamps, not in-memory timers.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2EC48D"/>
                </a:solidFill>
                <a:latin typeface="Arial"/>
              </a:rPr>
              <a:t>▸  </a:t>
            </a:r>
            <a:r>
              <a:rPr sz="1150" b="1" i="0">
                <a:solidFill>
                  <a:srgbClr val="FFFFFF"/>
                </a:solidFill>
                <a:latin typeface="Arial"/>
              </a:rPr>
              <a:t>Drift watchdog </a:t>
            </a:r>
            <a:r>
              <a:rPr sz="1150" b="0" i="0">
                <a:solidFill>
                  <a:srgbClr val="D5DBDB"/>
                </a:solidFill>
                <a:latin typeface="Arial"/>
              </a:rPr>
              <a:t>PSI monitor → auto-fallback when input distribution shifts (proven in eval).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349240" cy="448056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SCOPED / NEXT (stated plainly)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9377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FF9900"/>
                </a:solidFill>
                <a:latin typeface="Arial"/>
              </a:rPr>
              <a:t>▸  </a:t>
            </a:r>
            <a:r>
              <a:rPr sz="1150" b="1" i="0">
                <a:solidFill>
                  <a:srgbClr val="FFFFFF"/>
                </a:solidFill>
                <a:latin typeface="Arial"/>
              </a:rPr>
              <a:t>Per-item greedy + batch-at-hub </a:t>
            </a:r>
            <a:r>
              <a:rPr sz="1150" b="0" i="0">
                <a:solidFill>
                  <a:srgbClr val="D5DBDB"/>
                </a:solidFill>
                <a:latin typeface="Arial"/>
              </a:rPr>
              <a:t>is the honest scope. Fleet-level assignment (pickup batching, pallet consolidation, hub capacity) is a real production concern — documented, deliberately not built.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FF9900"/>
                </a:solidFill>
                <a:latin typeface="Arial"/>
              </a:rPr>
              <a:t>▸  </a:t>
            </a:r>
            <a:r>
              <a:rPr sz="1150" b="1" i="0">
                <a:solidFill>
                  <a:srgbClr val="FFFFFF"/>
                </a:solidFill>
                <a:latin typeface="Arial"/>
              </a:rPr>
              <a:t>Mocked for reproducibility: </a:t>
            </a:r>
            <a:r>
              <a:rPr sz="1150" b="0" i="0">
                <a:solidFill>
                  <a:srgbClr val="D5DBDB"/>
                </a:solidFill>
                <a:latin typeface="Arial"/>
              </a:rPr>
              <a:t>SKU-prefix economic profile, per-category demand &amp; decay params, secondary-market bid curves — same posture as the existing pricing mock.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FF9900"/>
                </a:solidFill>
                <a:latin typeface="Arial"/>
              </a:rPr>
              <a:t>▸  </a:t>
            </a:r>
            <a:r>
              <a:rPr sz="1150" b="1" i="0">
                <a:solidFill>
                  <a:srgbClr val="FFFFFF"/>
                </a:solidFill>
                <a:latin typeface="Arial"/>
              </a:rPr>
              <a:t>Real: </a:t>
            </a:r>
            <a:r>
              <a:rPr sz="1150" b="0" i="0">
                <a:solidFill>
                  <a:srgbClr val="D5DBDB"/>
                </a:solidFill>
                <a:latin typeface="Arial"/>
              </a:rPr>
              <a:t>grading/pricing model calls, the full EV + lot engines, the state machine, checkpoint re-evaluation, MongoDB persistence, the reprice bandit.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the intelligence layer for Amazon's returns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A7B0"/>
                </a:solidFill>
                <a:latin typeface="Arial"/>
              </a:rPr>
              <a:t>SCALE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Reproducible proof — no network, no key, one command each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474720" cy="1261872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91440" cy="1261872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9900"/>
                </a:solidFill>
                <a:latin typeface="Arial"/>
              </a:rPr>
              <a:t>51 / 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edge-case matrix passes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3288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BA7B0"/>
                </a:solidFill>
                <a:latin typeface="Consolas"/>
              </a:rPr>
              <a:t>pnpm test:edge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474720" cy="1261872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91440" cy="1261872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373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9900"/>
                </a:solidFill>
                <a:latin typeface="Arial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5856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routing hard-rule conformance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3288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BA7B0"/>
                </a:solidFill>
                <a:latin typeface="Consolas"/>
              </a:rPr>
              <a:t>pnpm eval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600200"/>
            <a:ext cx="3474720" cy="1261872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1600200"/>
            <a:ext cx="91440" cy="1261872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9" y="17373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9900"/>
                </a:solidFill>
                <a:latin typeface="Arial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9" y="225856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argmax-EV optimality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9" y="253288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BA7B0"/>
                </a:solidFill>
                <a:latin typeface="Consolas"/>
              </a:rPr>
              <a:t>pnpm eval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017520"/>
            <a:ext cx="3474720" cy="1261872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017520"/>
            <a:ext cx="91440" cy="1261872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1546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9900"/>
                </a:solidFill>
                <a:latin typeface="Arial"/>
              </a:rPr>
              <a:t>5.3%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67588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pricing MAPE (₹186 MAE)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95020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BA7B0"/>
                </a:solidFill>
                <a:latin typeface="Consolas"/>
              </a:rPr>
              <a:t>pnpm eval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017520"/>
            <a:ext cx="3474720" cy="1261872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3017520"/>
            <a:ext cx="91440" cy="1261872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31546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9900"/>
                </a:solidFill>
                <a:latin typeface="Arial"/>
              </a:rPr>
              <a:t>0.771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367588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return-risk AUC vs 0.715 prior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395020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BA7B0"/>
                </a:solidFill>
                <a:latin typeface="Consolas"/>
              </a:rPr>
              <a:t>pnpm eval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9" y="3017520"/>
            <a:ext cx="3474720" cy="1261872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19" y="3017520"/>
            <a:ext cx="91440" cy="1261872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39" y="31546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9900"/>
                </a:solidFill>
                <a:latin typeface="Arial"/>
              </a:rPr>
              <a:t>0.099→0.024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39" y="367588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calibration ECE (temp-scaled)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39" y="395020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BA7B0"/>
                </a:solidFill>
                <a:latin typeface="Consolas"/>
              </a:rPr>
              <a:t>pnpm eval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526280"/>
            <a:ext cx="10881360" cy="150876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 w="1905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78231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9900"/>
                </a:solidFill>
                <a:latin typeface="Arial"/>
              </a:rPr>
              <a:t>📸  PASTE SCREENSHOT HERE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239512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9BA7B0"/>
                </a:solidFill>
                <a:latin typeface="Arial"/>
              </a:rPr>
              <a:t>Run:  </a:t>
            </a:r>
            <a:r>
              <a:rPr sz="1100" b="0" i="0">
                <a:solidFill>
                  <a:srgbClr val="CFE8D6"/>
                </a:solidFill>
                <a:latin typeface="Consolas"/>
              </a:rPr>
              <a:t>pnpm eval   &amp;&amp;   pnpm test:edge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468112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D5DBDB"/>
                </a:solidFill>
                <a:latin typeface="Arial"/>
              </a:rPr>
              <a:t>The full deterministic eval report + the 51/51 edge-case matrix — the baseline every later ML phase must beat.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the intelligence layer for Amazon's returns pipeline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A7B0"/>
                </a:solidFill>
                <a:latin typeface="Arial"/>
              </a:rPr>
              <a:t>PROOF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Live, auto-deployed, wired end-to-end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881360" cy="100584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9900"/>
                </a:solidFill>
                <a:latin typeface="Arial"/>
              </a:rPr>
              <a:t>Web — Vercel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DC8E8"/>
                </a:solidFill>
                <a:latin typeface="Consolas"/>
              </a:rPr>
              <a:t>reloop-woad.vercel.app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029968"/>
            <a:ext cx="6309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5DBDB"/>
                </a:solidFill>
                <a:latin typeface="Arial"/>
              </a:rPr>
              <a:t>Next.js (apps/web). NEXT_PUBLIC_API_BASE_URL baked in at build.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07792"/>
            <a:ext cx="10881360" cy="100584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449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9900"/>
                </a:solidFill>
                <a:latin typeface="Arial"/>
              </a:rPr>
              <a:t>API — Render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1071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DC8E8"/>
                </a:solidFill>
                <a:latin typeface="Consolas"/>
              </a:rPr>
              <a:t>reloop-api-po73.onrender.com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200400"/>
            <a:ext cx="6309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5DBDB"/>
                </a:solidFill>
                <a:latin typeface="Arial"/>
              </a:rPr>
              <a:t>Express (apps/api) via tsx. NVIDIA_API_KEY + WEB_ORIGIN (CORS).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78224"/>
            <a:ext cx="10881360" cy="100584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15384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9900"/>
                </a:solidFill>
                <a:latin typeface="Arial"/>
              </a:rPr>
              <a:t>Data — MongoDB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81144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DC8E8"/>
                </a:solidFill>
                <a:latin typeface="Consolas"/>
              </a:rPr>
              <a:t>cloud state 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370832"/>
            <a:ext cx="6309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5DBDB"/>
                </a:solidFill>
                <a:latin typeface="Arial"/>
              </a:rPr>
              <a:t>Per-user + shared state, returns, match sessions, pricing indexes.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5DBDB"/>
                </a:solidFill>
                <a:latin typeface="Arial"/>
              </a:rPr>
              <a:t>Both auto-deploy from </a:t>
            </a:r>
            <a:r>
              <a:rPr sz="1250" b="1" i="0">
                <a:solidFill>
                  <a:srgbClr val="5DC8E8"/>
                </a:solidFill>
                <a:latin typeface="Consolas"/>
              </a:rPr>
              <a:t>main</a:t>
            </a:r>
            <a:r>
              <a:rPr sz="1250" b="0" i="0">
                <a:solidFill>
                  <a:srgbClr val="D5DBDB"/>
                </a:solidFill>
                <a:latin typeface="Arial"/>
              </a:rPr>
              <a:t>. Pre-push gate: </a:t>
            </a:r>
            <a:r>
              <a:rPr sz="1250" b="1" i="0">
                <a:solidFill>
                  <a:srgbClr val="FFFFFF"/>
                </a:solidFill>
                <a:latin typeface="Consolas"/>
              </a:rPr>
              <a:t>pnpm -r typecheck</a:t>
            </a:r>
            <a:r>
              <a:rPr sz="1250" b="0" i="0">
                <a:solidFill>
                  <a:srgbClr val="D5DBDB"/>
                </a:solidFill>
                <a:latin typeface="Arial"/>
              </a:rPr>
              <a:t> (strict, no any) + </a:t>
            </a:r>
            <a:r>
              <a:rPr sz="1250" b="1" i="0">
                <a:solidFill>
                  <a:srgbClr val="FFFFFF"/>
                </a:solidFill>
                <a:latin typeface="Consolas"/>
              </a:rPr>
              <a:t>web build</a:t>
            </a:r>
            <a:r>
              <a:rPr sz="1250" b="0" i="0">
                <a:solidFill>
                  <a:srgbClr val="D5DBDB"/>
                </a:solidFill>
                <a:latin typeface="Arial"/>
              </a:rPr>
              <a:t>. @reloop/shared ships as TS source — API runs raw via tsx.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the intelligence layer for Amazon's returns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A7B0"/>
                </a:solidFill>
                <a:latin typeface="Arial"/>
              </a:rPr>
              <a:t>DEPLOY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Amazon built the resale rails.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0" i="0">
                <a:solidFill>
                  <a:srgbClr val="D5DBDB"/>
                </a:solidFill>
                <a:latin typeface="Arial"/>
              </a:rPr>
              <a:t>ReLoop gives them eyes at the doorstep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9900"/>
                </a:solidFill>
                <a:latin typeface="Arial"/>
              </a:rPr>
              <a:t>and a brain that decides before the truck rolls.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D5DBDB"/>
                </a:solidFill>
                <a:latin typeface="Arial"/>
              </a:rPr>
              <a:t>The return pipeline, rewired — the Amazon 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DC8E8"/>
                </a:solidFill>
                <a:latin typeface="Arial"/>
              </a:rPr>
              <a:t>reloop-woad.vercel.app</a:t>
            </a:r>
            <a:r>
              <a:rPr sz="1500" b="0" i="0">
                <a:solidFill>
                  <a:srgbClr val="9BA7B0"/>
                </a:solidFill>
                <a:latin typeface="Arial"/>
              </a:rPr>
              <a:t>      ·      </a:t>
            </a:r>
            <a:r>
              <a:rPr sz="1500" b="0" i="1">
                <a:solidFill>
                  <a:srgbClr val="9BA7B0"/>
                </a:solidFill>
                <a:latin typeface="Arial"/>
              </a:rPr>
              <a:t>“The landfill is a design flaw.”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